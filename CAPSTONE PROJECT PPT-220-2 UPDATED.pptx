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6" r:id="rId4"/>
    <p:sldId id="265" r:id="rId5"/>
    <p:sldId id="258" r:id="rId6"/>
    <p:sldId id="259" r:id="rId7"/>
    <p:sldId id="264" r:id="rId8"/>
    <p:sldId id="262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17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EF94C-4954-4CD2-BA31-0E4D3D6974DB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6A6AC-FE39-46B3-9BD0-1432700D5A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3736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6A6AC-FE39-46B3-9BD0-1432700D5A4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48852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6A6AC-FE39-46B3-9BD0-1432700D5A4A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83037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E31-624A-AF9F-DF90-799F05C6FF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A903BF-DB6C-D8D5-63D9-5610E7D08B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8A466B-0055-C632-D11B-6DD7770DA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8AC9-F5C4-4276-8E6D-5DD4E18EABEC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68DAA9-75C9-413B-9C24-57CEC2267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481ED-3AB8-F3E7-9AE8-189EEFC55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A1B6-1944-482D-9620-4E3AFFBDB0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5010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571B9-F803-D7B5-61B5-09524790E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3AFAA-DE8E-0651-51AB-D4349EA672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8D0531-898C-33FB-7716-555E78F76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8AC9-F5C4-4276-8E6D-5DD4E18EABEC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7A22D-26C3-F9E9-EE07-426C0F600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43CC4A-A158-CCA1-0629-24334F8CD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A1B6-1944-482D-9620-4E3AFFBDB0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0115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A5296-E157-125E-EE03-6A7F57E98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76134A-8E6B-0261-4636-D55ADF1EA8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71B04-6CAD-EB6B-3DE5-A21E0A00A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8AC9-F5C4-4276-8E6D-5DD4E18EABEC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1E29-30EE-F532-AEC0-E8CC1780E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64D5D-6E30-FAE3-C079-056EF105B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A1B6-1944-482D-9620-4E3AFFBDB0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2560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52FEE-B18A-97AA-EC41-652582C7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BE770-5D0B-11F4-85C8-2AC5268ABA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6F120B-46A6-C165-A8BB-F637A258A8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805614-838A-1D1D-7C2F-93BE6702C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8AC9-F5C4-4276-8E6D-5DD4E18EABEC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9D37DF-DE76-6050-6544-61DE3B702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1A404C-ECBA-4A98-E99F-2459E0B9F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A1B6-1944-482D-9620-4E3AFFBDB0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3019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CBF4B-E015-8771-4D2D-68769FD77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39BAB-C7AD-58F9-9F22-7EA8BB8505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DB6F14-5058-05C4-EEA1-F22D692D98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569910-2BA6-C265-0ADF-0D25D03957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27D10E-F4E4-617C-807B-D436ADF142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FAEFBF-0663-6B60-6F25-80A4BEC11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8AC9-F5C4-4276-8E6D-5DD4E18EABEC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14FCF7-48AB-B040-BD9E-E6D1BEEC9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71A29C-8702-9580-D463-3E5627AC5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A1B6-1944-482D-9620-4E3AFFBDB0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5983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24D1B-792C-3B04-C3EA-B1D27833E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303D47-501C-75EA-7A99-0C091D251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8AC9-F5C4-4276-8E6D-5DD4E18EABEC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F65C6E-862C-3265-0DD7-AA8C92575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C9254C-A872-7B06-A9EC-B8636EC21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A1B6-1944-482D-9620-4E3AFFBDB0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077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AFC244-D56F-75C1-6B5B-27E4543BB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8AC9-F5C4-4276-8E6D-5DD4E18EABEC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74F26E-C33C-DE44-ACCC-3CC88FBDE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7D2FF-D2F8-2694-B5A6-170D3BF37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A1B6-1944-482D-9620-4E3AFFBDB0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8077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F682-907D-A80E-CCB5-69C46893E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56D4F-8698-619F-67A7-66A6C2A52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A36238-0D6C-07C0-AEEC-3D4F1B6E1C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ABD43B-0416-ADB8-96B5-304613FE3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8AC9-F5C4-4276-8E6D-5DD4E18EABEC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ED3CE-EB36-A84D-35BC-D1BDB396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A2EDF9-E666-6DC9-FC2D-C36AF4F1F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A1B6-1944-482D-9620-4E3AFFBDB0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3169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01AC7-613B-1E50-2619-490EEA87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3AB0EC-CEA8-2750-C492-DD18CB67C2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AB4ABC-8B85-6CBB-9B64-FA266C216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59D55C-5D2E-3125-0EA7-BFE1BDDC7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8AC9-F5C4-4276-8E6D-5DD4E18EABEC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8A483F-8A91-CAF5-C4D5-F124B99F7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649F49-5B54-DDBD-B68B-79984ED0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A1B6-1944-482D-9620-4E3AFFBDB0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5711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591D0-F395-496A-6A85-FF1FD1EBE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1F2207-9ADD-30C7-F978-47D81229A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09171-C43D-A522-E036-30D134036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8AC9-F5C4-4276-8E6D-5DD4E18EABEC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6CFE9-1CFB-857C-3A5F-F9C153DEF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22336E-9CB4-BEE5-9842-AB25914A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A1B6-1944-482D-9620-4E3AFFBDB0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6976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01AD24-8ACD-1C7F-D911-59AB53819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BEAF3B-04C4-A83E-9E68-3D2E0D5E88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C182A-A1F7-8E57-B6A8-C4E0F1A7A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8AC9-F5C4-4276-8E6D-5DD4E18EABEC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907561-B0BB-9A21-DA0B-82D8E985A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6F9003-96C9-1B1E-84A6-FC0212B54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A1B6-1944-482D-9620-4E3AFFBDB0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8764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0CED7C-9B28-FBE0-2EBC-C01E9265E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4ADB3-F9EC-9C30-FAB8-622FEC115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BF110-79C5-6F9A-9978-2C6E7BD229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DA8AC9-F5C4-4276-8E6D-5DD4E18EABEC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FBC6BF-5C11-7CF6-E30D-4A7EFF1924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2794D0-7997-C1B8-BF4A-DCC9C9D79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E2A1B6-1944-482D-9620-4E3AFFBDB0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7505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72BBE06-F4D5-FC7B-A070-F92678667F7E}"/>
              </a:ext>
            </a:extLst>
          </p:cNvPr>
          <p:cNvSpPr txBox="1"/>
          <p:nvPr/>
        </p:nvSpPr>
        <p:spPr>
          <a:xfrm>
            <a:off x="688258" y="373626"/>
            <a:ext cx="1090397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AI-Based Social Media Sentiment and Trend Analysis Platform for Women’s Safety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9A1CF1-54F2-CF11-CCF0-EFCF34DE0888}"/>
              </a:ext>
            </a:extLst>
          </p:cNvPr>
          <p:cNvSpPr txBox="1"/>
          <p:nvPr/>
        </p:nvSpPr>
        <p:spPr>
          <a:xfrm>
            <a:off x="688258" y="1435509"/>
            <a:ext cx="48669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FINAL YEAR B.TECH CAPSTONE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C6D2BB-AB1B-E001-00B0-2F09415574D5}"/>
              </a:ext>
            </a:extLst>
          </p:cNvPr>
          <p:cNvSpPr txBox="1"/>
          <p:nvPr/>
        </p:nvSpPr>
        <p:spPr>
          <a:xfrm>
            <a:off x="8957187" y="5381169"/>
            <a:ext cx="2163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002060"/>
                </a:solidFill>
              </a:rPr>
              <a:t>CSE-3 </a:t>
            </a:r>
            <a:r>
              <a:rPr lang="en-IN" dirty="0"/>
              <a:t> | </a:t>
            </a:r>
            <a:r>
              <a:rPr lang="en-IN" dirty="0">
                <a:solidFill>
                  <a:srgbClr val="0070C0"/>
                </a:solidFill>
              </a:rPr>
              <a:t>BATCH-220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8B49D6-5418-02C3-3496-2F12F5B02519}"/>
              </a:ext>
            </a:extLst>
          </p:cNvPr>
          <p:cNvSpPr txBox="1"/>
          <p:nvPr/>
        </p:nvSpPr>
        <p:spPr>
          <a:xfrm>
            <a:off x="875072" y="1974172"/>
            <a:ext cx="24384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100" b="1" dirty="0"/>
              <a:t>PROJECT TEAM 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AC962C-B25C-DA69-E521-A3CC34B88FAE}"/>
              </a:ext>
            </a:extLst>
          </p:cNvPr>
          <p:cNvSpPr txBox="1"/>
          <p:nvPr/>
        </p:nvSpPr>
        <p:spPr>
          <a:xfrm>
            <a:off x="688258" y="2789592"/>
            <a:ext cx="729553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solidFill>
                  <a:schemeClr val="accent2">
                    <a:lumMod val="75000"/>
                  </a:schemeClr>
                </a:solidFill>
                <a:latin typeface="Lucida Bright" panose="02040602050505020304" pitchFamily="18" charset="0"/>
              </a:rPr>
              <a:t>KAVYA NAYANA — 2300033848</a:t>
            </a:r>
            <a:br>
              <a:rPr lang="en-IN" sz="2000" b="1" dirty="0">
                <a:solidFill>
                  <a:schemeClr val="accent2">
                    <a:lumMod val="75000"/>
                  </a:schemeClr>
                </a:solidFill>
                <a:latin typeface="Lucida Bright" panose="02040602050505020304" pitchFamily="18" charset="0"/>
              </a:rPr>
            </a:br>
            <a:r>
              <a:rPr lang="en-IN" sz="2000" b="1" dirty="0">
                <a:solidFill>
                  <a:schemeClr val="accent2">
                    <a:lumMod val="75000"/>
                  </a:schemeClr>
                </a:solidFill>
                <a:latin typeface="Lucida Bright" panose="02040602050505020304" pitchFamily="18" charset="0"/>
              </a:rPr>
              <a:t>INTI HANITHA SAI GAYATHRI — 2300032512</a:t>
            </a:r>
            <a:br>
              <a:rPr lang="en-IN" sz="2000" b="1" dirty="0">
                <a:solidFill>
                  <a:schemeClr val="accent2">
                    <a:lumMod val="75000"/>
                  </a:schemeClr>
                </a:solidFill>
                <a:latin typeface="Lucida Bright" panose="02040602050505020304" pitchFamily="18" charset="0"/>
              </a:rPr>
            </a:br>
            <a:r>
              <a:rPr lang="en-IN" sz="2000" b="1" dirty="0">
                <a:solidFill>
                  <a:schemeClr val="accent2">
                    <a:lumMod val="75000"/>
                  </a:schemeClr>
                </a:solidFill>
                <a:latin typeface="Lucida Bright" panose="02040602050505020304" pitchFamily="18" charset="0"/>
              </a:rPr>
              <a:t>KOKKILIGADDA T.V. DURGA RAO — 2300032267</a:t>
            </a:r>
            <a:br>
              <a:rPr lang="en-IN" sz="2000" b="1" dirty="0">
                <a:solidFill>
                  <a:schemeClr val="accent2">
                    <a:lumMod val="75000"/>
                  </a:schemeClr>
                </a:solidFill>
                <a:latin typeface="Lucida Bright" panose="02040602050505020304" pitchFamily="18" charset="0"/>
              </a:rPr>
            </a:br>
            <a:r>
              <a:rPr lang="en-IN" sz="2000" b="1" dirty="0">
                <a:solidFill>
                  <a:schemeClr val="accent2">
                    <a:lumMod val="75000"/>
                  </a:schemeClr>
                </a:solidFill>
                <a:latin typeface="Lucida Bright" panose="02040602050505020304" pitchFamily="18" charset="0"/>
              </a:rPr>
              <a:t>BADAM SUDHEER REDDY — 2300033278</a:t>
            </a:r>
            <a:br>
              <a:rPr lang="en-IN" sz="2000" b="1" dirty="0">
                <a:solidFill>
                  <a:schemeClr val="accent2">
                    <a:lumMod val="75000"/>
                  </a:schemeClr>
                </a:solidFill>
                <a:latin typeface="Lucida Bright" panose="02040602050505020304" pitchFamily="18" charset="0"/>
              </a:rPr>
            </a:br>
            <a:r>
              <a:rPr lang="en-IN" sz="2000" b="1" dirty="0">
                <a:solidFill>
                  <a:schemeClr val="accent2">
                    <a:lumMod val="75000"/>
                  </a:schemeClr>
                </a:solidFill>
                <a:latin typeface="Lucida Bright" panose="02040602050505020304" pitchFamily="18" charset="0"/>
              </a:rPr>
              <a:t>GARIKAPATI SATYA KARTHIKA — 2300030988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F827223-126B-FEA1-7DAA-3E24D17B5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5032" y="806245"/>
            <a:ext cx="4772928" cy="446853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E244CF5-6E52-8060-13C3-F9D74C45B3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274777"/>
            <a:ext cx="727587" cy="58211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99AE556-7F0A-1979-F50A-3FDC3F52C12A}"/>
              </a:ext>
            </a:extLst>
          </p:cNvPr>
          <p:cNvSpPr txBox="1"/>
          <p:nvPr/>
        </p:nvSpPr>
        <p:spPr>
          <a:xfrm>
            <a:off x="875072" y="4820730"/>
            <a:ext cx="64229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accent5">
                    <a:lumMod val="75000"/>
                  </a:schemeClr>
                </a:solidFill>
              </a:rPr>
              <a:t>Guide: Mr. M. Subba Rao (M-Tech)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Professor, Department of Computer Science and Engineering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15EFFB-B8F5-FFF0-57DA-06113DA2E855}"/>
              </a:ext>
            </a:extLst>
          </p:cNvPr>
          <p:cNvSpPr txBox="1"/>
          <p:nvPr/>
        </p:nvSpPr>
        <p:spPr>
          <a:xfrm>
            <a:off x="3244645" y="6581001"/>
            <a:ext cx="1209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>
                <a:solidFill>
                  <a:schemeClr val="accent5">
                    <a:lumMod val="75000"/>
                  </a:schemeClr>
                </a:solidFill>
              </a:rPr>
              <a:t>KL University | Department of Computer Science and Engineering  | Academic Year 2026–27</a:t>
            </a:r>
          </a:p>
        </p:txBody>
      </p:sp>
    </p:spTree>
    <p:extLst>
      <p:ext uri="{BB962C8B-B14F-4D97-AF65-F5344CB8AC3E}">
        <p14:creationId xmlns:p14="http://schemas.microsoft.com/office/powerpoint/2010/main" val="271439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14FCC7-CEE0-CB8F-464D-3BDFBECB7EE7}"/>
              </a:ext>
            </a:extLst>
          </p:cNvPr>
          <p:cNvSpPr txBox="1"/>
          <p:nvPr/>
        </p:nvSpPr>
        <p:spPr>
          <a:xfrm>
            <a:off x="3067665" y="6581001"/>
            <a:ext cx="912433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>
                <a:solidFill>
                  <a:schemeClr val="accent5">
                    <a:lumMod val="75000"/>
                  </a:schemeClr>
                </a:solidFill>
              </a:rPr>
              <a:t>KL University | Department of Computer Science and Engineering  | Academic Year 2026–27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C6DAF2-CA55-82EF-B153-B4D56AD51A0A}"/>
              </a:ext>
            </a:extLst>
          </p:cNvPr>
          <p:cNvSpPr txBox="1"/>
          <p:nvPr/>
        </p:nvSpPr>
        <p:spPr>
          <a:xfrm>
            <a:off x="875071" y="1054199"/>
            <a:ext cx="9488129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900" dirty="0"/>
              <a:t>•  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Women’s safety is an important social concern, and social media contains public discussions about incidents. </a:t>
            </a:r>
          </a:p>
          <a:p>
            <a:pPr lvl="0"/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 Safety-related posts are often informal, unstructured and difficult to review    manually. </a:t>
            </a:r>
          </a:p>
          <a:p>
            <a:pPr lvl="0"/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Large volumes of posts make it difficult to identify important information quickly. </a:t>
            </a:r>
          </a:p>
          <a:p>
            <a:pPr lvl="0"/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Repeated reports from the same location may not be obvious when posts are viewed separately. </a:t>
            </a:r>
          </a:p>
          <a:p>
            <a:pPr lvl="0"/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Different incidents can have different levels of concern and require suitable classification. </a:t>
            </a:r>
          </a:p>
          <a:p>
            <a:pPr lvl="0"/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 simple visual system is needed to understand safety patterns across time and locations. </a:t>
            </a:r>
          </a:p>
          <a:p>
            <a:pPr lvl="0"/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Our project uses AI and data analysis to organize these observations into useful  insights. </a:t>
            </a:r>
          </a:p>
          <a:p>
            <a:pPr lvl="0"/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system is designed as an academic prototype to support awareness and analysis.</a:t>
            </a:r>
          </a:p>
          <a:p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A947DC-9C74-065B-A98D-DE17D385A71B}"/>
              </a:ext>
            </a:extLst>
          </p:cNvPr>
          <p:cNvSpPr txBox="1"/>
          <p:nvPr/>
        </p:nvSpPr>
        <p:spPr>
          <a:xfrm>
            <a:off x="314632" y="377920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200" b="1" dirty="0">
                <a:solidFill>
                  <a:schemeClr val="accent1">
                    <a:lumMod val="75000"/>
                  </a:schemeClr>
                </a:solidFill>
                <a:latin typeface="Lucida Bright" panose="02040602050505020304" pitchFamily="18" charset="0"/>
              </a:rPr>
              <a:t>PROBLEM AND MOTIVATION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EE135A-3AE8-E170-A91B-CE33F9284CA4}"/>
              </a:ext>
            </a:extLst>
          </p:cNvPr>
          <p:cNvSpPr/>
          <p:nvPr/>
        </p:nvSpPr>
        <p:spPr>
          <a:xfrm>
            <a:off x="2885767" y="4372611"/>
            <a:ext cx="6420465" cy="688258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dirty="0">
                <a:solidFill>
                  <a:srgbClr val="FF0000"/>
                </a:solidFill>
              </a:rPr>
              <a:t>     Social Media → Large Data → Manual Analysis → Difficult</a:t>
            </a:r>
          </a:p>
        </p:txBody>
      </p:sp>
    </p:spTree>
    <p:extLst>
      <p:ext uri="{BB962C8B-B14F-4D97-AF65-F5344CB8AC3E}">
        <p14:creationId xmlns:p14="http://schemas.microsoft.com/office/powerpoint/2010/main" val="2646808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A79D400-A2E9-121B-E049-936C88D28CC5}"/>
              </a:ext>
            </a:extLst>
          </p:cNvPr>
          <p:cNvSpPr txBox="1"/>
          <p:nvPr/>
        </p:nvSpPr>
        <p:spPr>
          <a:xfrm>
            <a:off x="235974" y="110302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5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F7397-23F6-2F39-AC38-4C797E5D4F3E}"/>
              </a:ext>
            </a:extLst>
          </p:cNvPr>
          <p:cNvSpPr txBox="1"/>
          <p:nvPr/>
        </p:nvSpPr>
        <p:spPr>
          <a:xfrm>
            <a:off x="570271" y="885013"/>
            <a:ext cx="871138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•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Safety-related information is available across different social-media posts.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information is not available in one organized form.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Identifying sentiment from a large number of posts is difficult manually.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Finding common incident patterns also requires detailed analysis.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Location-based safety information may be difficult to understand from individual posts.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There is a need for a simple platform to organize this information.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project will explore AI-based text and trend analysis techniques.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proposed idea will be studied and developed during the capstone project</a:t>
            </a:r>
            <a:r>
              <a:rPr lang="en-IN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9A5476-4062-F0BA-17F3-609A742865A2}"/>
              </a:ext>
            </a:extLst>
          </p:cNvPr>
          <p:cNvSpPr txBox="1"/>
          <p:nvPr/>
        </p:nvSpPr>
        <p:spPr>
          <a:xfrm>
            <a:off x="2841523" y="658100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>
                <a:solidFill>
                  <a:schemeClr val="accent5">
                    <a:lumMod val="75000"/>
                  </a:schemeClr>
                </a:solidFill>
              </a:rPr>
              <a:t>KL University | Department of Computer Science and Engineering  | Academic Year 2026–27</a:t>
            </a:r>
          </a:p>
        </p:txBody>
      </p:sp>
    </p:spTree>
    <p:extLst>
      <p:ext uri="{BB962C8B-B14F-4D97-AF65-F5344CB8AC3E}">
        <p14:creationId xmlns:p14="http://schemas.microsoft.com/office/powerpoint/2010/main" val="1916055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6B902BF-F846-850F-EB8A-207AEF47E165}"/>
              </a:ext>
            </a:extLst>
          </p:cNvPr>
          <p:cNvSpPr txBox="1"/>
          <p:nvPr/>
        </p:nvSpPr>
        <p:spPr>
          <a:xfrm>
            <a:off x="167148" y="108344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5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A063BF-0AF3-3938-9873-E950CA7927F4}"/>
              </a:ext>
            </a:extLst>
          </p:cNvPr>
          <p:cNvSpPr txBox="1"/>
          <p:nvPr/>
        </p:nvSpPr>
        <p:spPr>
          <a:xfrm>
            <a:off x="747252" y="585398"/>
            <a:ext cx="8691716" cy="3277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are currently studying existing research related to women’s safety.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Previous studies use social-media data for sentiment analysis.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NLP techniques are commonly used for processing social-media text.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Machine-learning methods are used for text classification.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Some studies </a:t>
            </a:r>
            <a:r>
              <a:rPr lang="en-IN" sz="2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safety concerns based on location or incident type.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Research also explores visualization of social-media analysis results.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These studies help us understand suitable methods for our project.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literature survey will help us finalize our project methodology.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634044-4FC5-8A75-E371-F1B1CF349AC2}"/>
              </a:ext>
            </a:extLst>
          </p:cNvPr>
          <p:cNvSpPr txBox="1"/>
          <p:nvPr/>
        </p:nvSpPr>
        <p:spPr>
          <a:xfrm>
            <a:off x="2831690" y="6611156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>
                <a:solidFill>
                  <a:schemeClr val="accent5">
                    <a:lumMod val="75000"/>
                  </a:schemeClr>
                </a:solidFill>
              </a:rPr>
              <a:t>KL University | Department of Computer Science and Engineering  | Academic Year 2026–27</a:t>
            </a:r>
          </a:p>
        </p:txBody>
      </p:sp>
    </p:spTree>
    <p:extLst>
      <p:ext uri="{BB962C8B-B14F-4D97-AF65-F5344CB8AC3E}">
        <p14:creationId xmlns:p14="http://schemas.microsoft.com/office/powerpoint/2010/main" val="309904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B0F6D4-31D6-38EA-33D4-DA2B12E21675}"/>
              </a:ext>
            </a:extLst>
          </p:cNvPr>
          <p:cNvSpPr txBox="1"/>
          <p:nvPr/>
        </p:nvSpPr>
        <p:spPr>
          <a:xfrm>
            <a:off x="3274142" y="658100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>
                <a:solidFill>
                  <a:schemeClr val="accent5">
                    <a:lumMod val="75000"/>
                  </a:schemeClr>
                </a:solidFill>
              </a:rPr>
              <a:t>KL University | Department of Computer Science and Engineering  | Academic Year 2026–27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27D33F-463A-B844-7B83-A1C633423ED2}"/>
              </a:ext>
            </a:extLst>
          </p:cNvPr>
          <p:cNvSpPr txBox="1"/>
          <p:nvPr/>
        </p:nvSpPr>
        <p:spPr>
          <a:xfrm>
            <a:off x="698090" y="1193881"/>
            <a:ext cx="8672051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000" dirty="0"/>
              <a:t>• </a:t>
            </a: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relevant social-media data related to women’s safety.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Clean and preprocess the collected text.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sentiment of the posts using NLP techniques.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Classify posts based on the type of safety-related incident.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Study patterns based on time and available location information.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Present the </a:t>
            </a:r>
            <a:r>
              <a:rPr lang="en-IN" sz="2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analyzed</a:t>
            </a: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information through a simple dashboard.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Explore potential risk-zone visualization based on available data.</a:t>
            </a:r>
            <a:b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Study the possibility of adding an IoT-based SOS wearable.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A8C1DD-F97A-C66C-EDD7-4CB0E19777DB}"/>
              </a:ext>
            </a:extLst>
          </p:cNvPr>
          <p:cNvSpPr txBox="1"/>
          <p:nvPr/>
        </p:nvSpPr>
        <p:spPr>
          <a:xfrm>
            <a:off x="408039" y="166843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5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IDEA</a:t>
            </a:r>
          </a:p>
        </p:txBody>
      </p:sp>
    </p:spTree>
    <p:extLst>
      <p:ext uri="{BB962C8B-B14F-4D97-AF65-F5344CB8AC3E}">
        <p14:creationId xmlns:p14="http://schemas.microsoft.com/office/powerpoint/2010/main" val="1414042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DDFEF5-3DB7-C616-B42C-9A15429EE7D5}"/>
              </a:ext>
            </a:extLst>
          </p:cNvPr>
          <p:cNvSpPr txBox="1"/>
          <p:nvPr/>
        </p:nvSpPr>
        <p:spPr>
          <a:xfrm>
            <a:off x="294968" y="208624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6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DASHBOARD PROCESS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AA24E3-AF11-DDD5-2FAF-D46B8DF850C1}"/>
              </a:ext>
            </a:extLst>
          </p:cNvPr>
          <p:cNvSpPr txBox="1"/>
          <p:nvPr/>
        </p:nvSpPr>
        <p:spPr>
          <a:xfrm>
            <a:off x="975852" y="701067"/>
            <a:ext cx="10805651" cy="563231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latin typeface="Lucida Bright" panose="02040602050505020304" pitchFamily="18" charset="0"/>
              </a:rPr>
              <a:t>DATA</a:t>
            </a:r>
            <a:br>
              <a:rPr lang="en-IN" dirty="0"/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Collection of relevant social-media posts or a suitable dataset related to women’s safety.</a:t>
            </a:r>
          </a:p>
          <a:p>
            <a:pPr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</a:p>
          <a:p>
            <a:pPr>
              <a:buNone/>
            </a:pPr>
            <a:r>
              <a:rPr lang="en-IN" b="1" dirty="0">
                <a:latin typeface="Lucida Bright" panose="02040602050505020304" pitchFamily="18" charset="0"/>
                <a:cs typeface="Times New Roman" panose="02020603050405020304" pitchFamily="18" charset="0"/>
              </a:rPr>
              <a:t>DATA CLEANING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unwanted characters, duplicate posts, links and unnecessary information from the data.</a:t>
            </a:r>
          </a:p>
          <a:p>
            <a:pPr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↓</a:t>
            </a:r>
          </a:p>
          <a:p>
            <a:pPr>
              <a:buNone/>
            </a:pPr>
            <a:r>
              <a:rPr lang="en-IN" b="1" dirty="0">
                <a:latin typeface="Lucida Bright" panose="02040602050505020304" pitchFamily="18" charset="0"/>
                <a:cs typeface="Times New Roman" panose="02020603050405020304" pitchFamily="18" charset="0"/>
              </a:rPr>
              <a:t>NLP ANALYSIS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the text using Natural Language Processing techniques to understand the content.</a:t>
            </a:r>
          </a:p>
          <a:p>
            <a:pPr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↓</a:t>
            </a:r>
          </a:p>
          <a:p>
            <a:pPr>
              <a:buNone/>
            </a:pPr>
            <a:r>
              <a:rPr lang="en-IN" b="1" dirty="0">
                <a:latin typeface="Lucida Bright" panose="02040602050505020304" pitchFamily="18" charset="0"/>
                <a:cs typeface="Times New Roman" panose="02020603050405020304" pitchFamily="18" charset="0"/>
              </a:rPr>
              <a:t>SENTIMENT &amp; INCIDENT CLASSIFICATION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the sentiment and classify posts according to the type of safety-related incident.</a:t>
            </a:r>
          </a:p>
          <a:p>
            <a:pPr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↓</a:t>
            </a:r>
          </a:p>
          <a:p>
            <a:pPr>
              <a:buNone/>
            </a:pPr>
            <a:r>
              <a:rPr lang="en-IN" b="1" dirty="0">
                <a:latin typeface="Lucida Bright" panose="02040602050505020304" pitchFamily="18" charset="0"/>
                <a:cs typeface="Times New Roman" panose="02020603050405020304" pitchFamily="18" charset="0"/>
              </a:rPr>
              <a:t>TREND ANALYSIS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Study the frequency and changes in safety-related posts over different time periods.</a:t>
            </a:r>
          </a:p>
          <a:p>
            <a:pPr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↓</a:t>
            </a:r>
          </a:p>
          <a:p>
            <a:pPr>
              <a:buNone/>
            </a:pPr>
            <a:r>
              <a:rPr lang="en-IN" b="1" dirty="0">
                <a:latin typeface="Lucida Bright" panose="02040602050505020304" pitchFamily="18" charset="0"/>
                <a:cs typeface="Times New Roman" panose="02020603050405020304" pitchFamily="18" charset="0"/>
              </a:rPr>
              <a:t>LOCATION ANALYSIS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available location information to identify areas with repeated safety-related reports.</a:t>
            </a:r>
          </a:p>
          <a:p>
            <a:pPr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↓</a:t>
            </a:r>
          </a:p>
          <a:p>
            <a:pPr>
              <a:buNone/>
            </a:pPr>
            <a:r>
              <a:rPr lang="en-IN" b="1" dirty="0">
                <a:latin typeface="Lucida Bright" panose="02040602050505020304" pitchFamily="18" charset="0"/>
                <a:cs typeface="Times New Roman" panose="02020603050405020304" pitchFamily="18" charset="0"/>
              </a:rPr>
              <a:t>DASHBOARD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 the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analyzed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information using charts, filters, trends and a map for easy understanding</a:t>
            </a:r>
            <a:r>
              <a:rPr lang="en-IN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EA64A3-2585-DDE4-12C7-FB2460F69701}"/>
              </a:ext>
            </a:extLst>
          </p:cNvPr>
          <p:cNvSpPr txBox="1"/>
          <p:nvPr/>
        </p:nvSpPr>
        <p:spPr>
          <a:xfrm>
            <a:off x="3048000" y="658100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>
                <a:solidFill>
                  <a:schemeClr val="accent5">
                    <a:lumMod val="75000"/>
                  </a:schemeClr>
                </a:solidFill>
              </a:rPr>
              <a:t>KL University | Department of Computer Science and Engineering  | Academic Year 2026–27</a:t>
            </a:r>
          </a:p>
        </p:txBody>
      </p:sp>
    </p:spTree>
    <p:extLst>
      <p:ext uri="{BB962C8B-B14F-4D97-AF65-F5344CB8AC3E}">
        <p14:creationId xmlns:p14="http://schemas.microsoft.com/office/powerpoint/2010/main" val="3456078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624FCB-5E4B-1576-C12C-584945FF0519}"/>
              </a:ext>
            </a:extLst>
          </p:cNvPr>
          <p:cNvSpPr txBox="1"/>
          <p:nvPr/>
        </p:nvSpPr>
        <p:spPr>
          <a:xfrm>
            <a:off x="196645" y="235974"/>
            <a:ext cx="6096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100" b="1" dirty="0">
                <a:solidFill>
                  <a:srgbClr val="0070C0"/>
                </a:solidFill>
                <a:latin typeface="Lucida Bright" panose="02040602050505020304" pitchFamily="18" charset="0"/>
              </a:rPr>
              <a:t>Project Cost Estimation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2C48D-3171-96F8-2E9E-58703D8CD746}"/>
              </a:ext>
            </a:extLst>
          </p:cNvPr>
          <p:cNvSpPr txBox="1"/>
          <p:nvPr/>
        </p:nvSpPr>
        <p:spPr>
          <a:xfrm>
            <a:off x="786580" y="836699"/>
            <a:ext cx="867205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project is designed to be cost-effective for a final-year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B.Tech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prototype.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of the software tools used in the project are free and open-source.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expense is for the IoT-based wearable safety prototype.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hardware includes ESP32, GPS module, SOS button, buzzer, battery and basic components.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estimated hardware cost is approximately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₹1,900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Depending on additional components, the total cost may range between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₹1,900 and ₹2,500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major software licensing cost is expected during development.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Estimated overall project budget: ₹1,900–₹2,500.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2DE980-3D57-BDD8-C47B-0FD922ED5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47476" y="3528910"/>
            <a:ext cx="1995731" cy="2229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51E24A-DB63-1C95-1EE1-64F3BA47F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3186" y="3677938"/>
            <a:ext cx="2720311" cy="1995732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62361B-141B-C590-9732-AFAF3B05D041}"/>
              </a:ext>
            </a:extLst>
          </p:cNvPr>
          <p:cNvSpPr/>
          <p:nvPr/>
        </p:nvSpPr>
        <p:spPr>
          <a:xfrm>
            <a:off x="196645" y="5638574"/>
            <a:ext cx="2497394" cy="8849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ESP-32 Development Board</a:t>
            </a:r>
          </a:p>
          <a:p>
            <a:pPr algn="ctr"/>
            <a:r>
              <a:rPr lang="en-IN" dirty="0"/>
              <a:t>COST : ₹500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FCC8CC5-E897-D51F-9FD4-667E0EDBAEA2}"/>
              </a:ext>
            </a:extLst>
          </p:cNvPr>
          <p:cNvSpPr/>
          <p:nvPr/>
        </p:nvSpPr>
        <p:spPr>
          <a:xfrm>
            <a:off x="3356103" y="5673670"/>
            <a:ext cx="2497394" cy="8849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GPS Module (NEO-6M)</a:t>
            </a:r>
          </a:p>
          <a:p>
            <a:pPr algn="ctr"/>
            <a:r>
              <a:rPr lang="en-IN" dirty="0"/>
              <a:t>COST : ₹600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760C07D-DC10-C26B-C464-6571587B92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826" y="3904730"/>
            <a:ext cx="1971776" cy="1542148"/>
          </a:xfrm>
          <a:prstGeom prst="rect">
            <a:avLst/>
          </a:prstGeom>
        </p:spPr>
      </p:pic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14C31D1-65A8-61F1-BDCD-A14C9453932A}"/>
              </a:ext>
            </a:extLst>
          </p:cNvPr>
          <p:cNvSpPr/>
          <p:nvPr/>
        </p:nvSpPr>
        <p:spPr>
          <a:xfrm>
            <a:off x="6600826" y="5578849"/>
            <a:ext cx="2266335" cy="8849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BUZZER COST : ₹60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76BA0A-45E9-C700-1C9E-D783FFE13B1A}"/>
              </a:ext>
            </a:extLst>
          </p:cNvPr>
          <p:cNvSpPr txBox="1"/>
          <p:nvPr/>
        </p:nvSpPr>
        <p:spPr>
          <a:xfrm>
            <a:off x="3244645" y="6595723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>
                <a:solidFill>
                  <a:schemeClr val="accent5">
                    <a:lumMod val="75000"/>
                  </a:schemeClr>
                </a:solidFill>
              </a:rPr>
              <a:t>KL University | Department of Computer Science and Engineering  | Academic Year 2026–27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496091-989C-4C4A-B6DD-CABDF7DBE0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6258" y="3645625"/>
            <a:ext cx="2229162" cy="1740578"/>
          </a:xfrm>
          <a:prstGeom prst="rect">
            <a:avLst/>
          </a:prstGeom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F945DA8-959F-B799-2CA5-FC9324F980A5}"/>
              </a:ext>
            </a:extLst>
          </p:cNvPr>
          <p:cNvSpPr/>
          <p:nvPr/>
        </p:nvSpPr>
        <p:spPr>
          <a:xfrm>
            <a:off x="9176258" y="5638574"/>
            <a:ext cx="2497394" cy="8849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 SOS BUTTON</a:t>
            </a:r>
          </a:p>
          <a:p>
            <a:pPr algn="ctr"/>
            <a:r>
              <a:rPr lang="en-IN" dirty="0"/>
              <a:t>COST : ₹250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D55A570-C791-E8C8-1DE9-91574CF61C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5562" y="105383"/>
            <a:ext cx="2706438" cy="2162477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7BF93BE-B41B-25F0-814A-9FEFD0947945}"/>
              </a:ext>
            </a:extLst>
          </p:cNvPr>
          <p:cNvSpPr/>
          <p:nvPr/>
        </p:nvSpPr>
        <p:spPr>
          <a:xfrm>
            <a:off x="9801226" y="2267860"/>
            <a:ext cx="2266335" cy="8849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WIRE KIT COST: ₹300</a:t>
            </a:r>
          </a:p>
        </p:txBody>
      </p:sp>
    </p:spTree>
    <p:extLst>
      <p:ext uri="{BB962C8B-B14F-4D97-AF65-F5344CB8AC3E}">
        <p14:creationId xmlns:p14="http://schemas.microsoft.com/office/powerpoint/2010/main" val="539521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6FFF22-B3B9-90ED-3DA4-8B26CABF9FBE}"/>
              </a:ext>
            </a:extLst>
          </p:cNvPr>
          <p:cNvSpPr txBox="1"/>
          <p:nvPr/>
        </p:nvSpPr>
        <p:spPr>
          <a:xfrm>
            <a:off x="3156155" y="658100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>
                <a:solidFill>
                  <a:schemeClr val="accent5">
                    <a:lumMod val="75000"/>
                  </a:schemeClr>
                </a:solidFill>
              </a:rPr>
              <a:t>KL University | Department of Computer Science and Engineering | Academic Year 2026–27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724C24-5259-AC59-408D-C91F6710C363}"/>
              </a:ext>
            </a:extLst>
          </p:cNvPr>
          <p:cNvSpPr txBox="1"/>
          <p:nvPr/>
        </p:nvSpPr>
        <p:spPr>
          <a:xfrm>
            <a:off x="108155" y="193876"/>
            <a:ext cx="6096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100" b="1" dirty="0">
                <a:solidFill>
                  <a:schemeClr val="accent1">
                    <a:lumMod val="75000"/>
                  </a:schemeClr>
                </a:solidFill>
                <a:latin typeface="Lucida Bright" panose="02040602050505020304" pitchFamily="18" charset="0"/>
              </a:rPr>
              <a:t>    IoT WEARABLE AND SOS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DCDF61-3B95-2D81-DC67-DDA7596BB594}"/>
              </a:ext>
            </a:extLst>
          </p:cNvPr>
          <p:cNvSpPr txBox="1"/>
          <p:nvPr/>
        </p:nvSpPr>
        <p:spPr>
          <a:xfrm>
            <a:off x="648929" y="731765"/>
            <a:ext cx="646962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ESP32 is used as the main controller for the proposed wearable prototype.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GPS module provides the approximate location of the user.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current location can be compared with selected potential risk zones.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alert can be generated when the user enters a designated risk area.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physical SOS button can create an emergency event in the prototype.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buzzer or vibration motor can provide a local warning to the user.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Wi-Fi can be used for the initial prototype, with GSM or LTE as a future extension.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wearable connects the project’s data analysis with a practical safety-assistance feature.</a:t>
            </a:r>
          </a:p>
        </p:txBody>
      </p: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29F35040-B62A-BC91-B0E0-75E777DF72DE}"/>
              </a:ext>
            </a:extLst>
          </p:cNvPr>
          <p:cNvSpPr/>
          <p:nvPr/>
        </p:nvSpPr>
        <p:spPr>
          <a:xfrm>
            <a:off x="7855974" y="609374"/>
            <a:ext cx="3913239" cy="4631220"/>
          </a:xfrm>
          <a:prstGeom prst="foldedCorner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 </a:t>
            </a:r>
            <a:r>
              <a:rPr lang="en-IN" b="1" dirty="0">
                <a:solidFill>
                  <a:schemeClr val="accent1"/>
                </a:solidFill>
              </a:rPr>
              <a:t>GPS</a:t>
            </a:r>
          </a:p>
          <a:p>
            <a:pPr algn="ctr"/>
            <a:r>
              <a:rPr lang="en-IN" b="1" dirty="0">
                <a:solidFill>
                  <a:schemeClr val="accent1"/>
                </a:solidFill>
              </a:rPr>
              <a:t>  ↓</a:t>
            </a:r>
          </a:p>
          <a:p>
            <a:pPr algn="ctr"/>
            <a:r>
              <a:rPr lang="en-IN" b="1" dirty="0">
                <a:solidFill>
                  <a:schemeClr val="accent1"/>
                </a:solidFill>
              </a:rPr>
              <a:t>   ESP32</a:t>
            </a:r>
          </a:p>
          <a:p>
            <a:pPr algn="ctr"/>
            <a:r>
              <a:rPr lang="en-IN" b="1" dirty="0">
                <a:solidFill>
                  <a:schemeClr val="accent1"/>
                </a:solidFill>
              </a:rPr>
              <a:t> ↙     ↘</a:t>
            </a:r>
          </a:p>
          <a:p>
            <a:pPr algn="ctr"/>
            <a:r>
              <a:rPr lang="en-IN" b="1" dirty="0">
                <a:solidFill>
                  <a:schemeClr val="accent1"/>
                </a:solidFill>
              </a:rPr>
              <a:t>        BUZZER               SOS BUTTON</a:t>
            </a:r>
          </a:p>
          <a:p>
            <a:pPr algn="ctr"/>
            <a:r>
              <a:rPr lang="en-IN" b="1" dirty="0">
                <a:solidFill>
                  <a:schemeClr val="accent1"/>
                </a:solidFill>
              </a:rPr>
              <a:t>  ↓                             ↓</a:t>
            </a:r>
          </a:p>
          <a:p>
            <a:pPr algn="ctr"/>
            <a:r>
              <a:rPr lang="en-IN" b="1" dirty="0">
                <a:solidFill>
                  <a:schemeClr val="accent1"/>
                </a:solidFill>
              </a:rPr>
              <a:t>         ALERT                  EMERGENCY</a:t>
            </a:r>
          </a:p>
        </p:txBody>
      </p:sp>
    </p:spTree>
    <p:extLst>
      <p:ext uri="{BB962C8B-B14F-4D97-AF65-F5344CB8AC3E}">
        <p14:creationId xmlns:p14="http://schemas.microsoft.com/office/powerpoint/2010/main" val="3552089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F22D28-F95D-CBEC-3D64-7EE8F6A986E1}"/>
              </a:ext>
            </a:extLst>
          </p:cNvPr>
          <p:cNvSpPr txBox="1"/>
          <p:nvPr/>
        </p:nvSpPr>
        <p:spPr>
          <a:xfrm>
            <a:off x="3175819" y="658100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>
                <a:solidFill>
                  <a:schemeClr val="accent5">
                    <a:lumMod val="75000"/>
                  </a:schemeClr>
                </a:solidFill>
              </a:rPr>
              <a:t>KL University | Department of Computer Science and Engineering  | Academic Year 2026–27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8FF67D-A539-B955-911D-BD8CDB4919A5}"/>
              </a:ext>
            </a:extLst>
          </p:cNvPr>
          <p:cNvSpPr txBox="1"/>
          <p:nvPr/>
        </p:nvSpPr>
        <p:spPr>
          <a:xfrm>
            <a:off x="294968" y="243036"/>
            <a:ext cx="6096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100" b="1" dirty="0">
                <a:solidFill>
                  <a:schemeClr val="accent1">
                    <a:lumMod val="75000"/>
                  </a:schemeClr>
                </a:solidFill>
                <a:latin typeface="Lucida Bright" panose="02040602050505020304" pitchFamily="18" charset="0"/>
              </a:rPr>
              <a:t>DASHBOARD AND POTENTIAL RISK ZONES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0B13E5-ABEE-ADC7-8793-CF1D6191AA61}"/>
              </a:ext>
            </a:extLst>
          </p:cNvPr>
          <p:cNvSpPr txBox="1"/>
          <p:nvPr/>
        </p:nvSpPr>
        <p:spPr>
          <a:xfrm>
            <a:off x="875070" y="790759"/>
            <a:ext cx="658761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dashboard provides a simple overview of the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analyzed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safety-related information.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Sentiment charts show positive, negative and neutral distributions.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Incident charts compare different types of reported safety concerns.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Time-based graphs show how reports change during selected periods.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map view can display the geographic concentration of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analyzed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reports.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Filters allow users to select time period, location and incident type.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Potential high-risk zones can be highlighted using repeated reported-data patterns.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dashboard makes the project results easier for users and mentors to understand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5141F9-3E12-8C2A-BDCF-BE211958B304}"/>
              </a:ext>
            </a:extLst>
          </p:cNvPr>
          <p:cNvSpPr/>
          <p:nvPr/>
        </p:nvSpPr>
        <p:spPr>
          <a:xfrm>
            <a:off x="8662220" y="392945"/>
            <a:ext cx="2654709" cy="159282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Positive</a:t>
            </a:r>
            <a:br>
              <a:rPr lang="en-IN" dirty="0"/>
            </a:br>
            <a:r>
              <a:rPr lang="en-IN" dirty="0"/>
              <a:t>Negative</a:t>
            </a:r>
            <a:br>
              <a:rPr lang="en-IN" dirty="0"/>
            </a:br>
            <a:r>
              <a:rPr lang="en-IN" dirty="0"/>
              <a:t>Neutral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522731-CD31-F1E1-BEB3-4B2AA00879A7}"/>
              </a:ext>
            </a:extLst>
          </p:cNvPr>
          <p:cNvSpPr/>
          <p:nvPr/>
        </p:nvSpPr>
        <p:spPr>
          <a:xfrm>
            <a:off x="8662221" y="3252043"/>
            <a:ext cx="2654709" cy="79641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/>
              <a:t>INCIDENT ANALYSIS</a:t>
            </a:r>
            <a:endParaRPr lang="en-IN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BF8FC7-2DDA-ED44-0322-ADC78A542545}"/>
              </a:ext>
            </a:extLst>
          </p:cNvPr>
          <p:cNvSpPr/>
          <p:nvPr/>
        </p:nvSpPr>
        <p:spPr>
          <a:xfrm>
            <a:off x="8716297" y="5476567"/>
            <a:ext cx="2654709" cy="63491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LOCATION / MAP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696C1DD2-873C-F3F7-9A7B-28864274E8DB}"/>
              </a:ext>
            </a:extLst>
          </p:cNvPr>
          <p:cNvSpPr/>
          <p:nvPr/>
        </p:nvSpPr>
        <p:spPr>
          <a:xfrm>
            <a:off x="9886335" y="2139781"/>
            <a:ext cx="314632" cy="79641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B6D6AEB-0C41-5429-827C-85BA15069F58}"/>
              </a:ext>
            </a:extLst>
          </p:cNvPr>
          <p:cNvSpPr/>
          <p:nvPr/>
        </p:nvSpPr>
        <p:spPr>
          <a:xfrm>
            <a:off x="9861754" y="4364305"/>
            <a:ext cx="314632" cy="79641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7982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152</TotalTime>
  <Words>1143</Words>
  <Application>Microsoft Office PowerPoint</Application>
  <PresentationFormat>Widescreen</PresentationFormat>
  <Paragraphs>93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Lucida Bright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BADAM SUDHEER REDDY</dc:creator>
  <cp:lastModifiedBy>BADAM SUDHEER REDDY</cp:lastModifiedBy>
  <cp:revision>7</cp:revision>
  <dcterms:created xsi:type="dcterms:W3CDTF">2026-08-17T18:11:35Z</dcterms:created>
  <dcterms:modified xsi:type="dcterms:W3CDTF">2026-08-19T14:17:20Z</dcterms:modified>
</cp:coreProperties>
</file>