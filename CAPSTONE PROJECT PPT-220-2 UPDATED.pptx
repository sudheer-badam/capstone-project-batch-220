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6" r:id="rId4"/>
    <p:sldId id="265" r:id="rId5"/>
    <p:sldId id="267" r:id="rId6"/>
    <p:sldId id="268" r:id="rId7"/>
    <p:sldId id="269" r:id="rId8"/>
    <p:sldId id="258" r:id="rId9"/>
    <p:sldId id="259" r:id="rId10"/>
    <p:sldId id="264" r:id="rId11"/>
    <p:sldId id="270" r:id="rId12"/>
    <p:sldId id="262"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EF94C-4954-4CD2-BA31-0E4D3D6974DB}"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6A6AC-FE39-46B3-9BD0-1432700D5A4A}" type="slidenum">
              <a:rPr lang="en-IN" smtClean="0"/>
              <a:t>‹#›</a:t>
            </a:fld>
            <a:endParaRPr lang="en-IN"/>
          </a:p>
        </p:txBody>
      </p:sp>
    </p:spTree>
    <p:extLst>
      <p:ext uri="{BB962C8B-B14F-4D97-AF65-F5344CB8AC3E}">
        <p14:creationId xmlns:p14="http://schemas.microsoft.com/office/powerpoint/2010/main" val="427373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C6A6AC-FE39-46B3-9BD0-1432700D5A4A}" type="slidenum">
              <a:rPr lang="en-IN" smtClean="0"/>
              <a:t>1</a:t>
            </a:fld>
            <a:endParaRPr lang="en-IN"/>
          </a:p>
        </p:txBody>
      </p:sp>
    </p:spTree>
    <p:extLst>
      <p:ext uri="{BB962C8B-B14F-4D97-AF65-F5344CB8AC3E}">
        <p14:creationId xmlns:p14="http://schemas.microsoft.com/office/powerpoint/2010/main" val="3334885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C6A6AC-FE39-46B3-9BD0-1432700D5A4A}" type="slidenum">
              <a:rPr lang="en-IN" smtClean="0"/>
              <a:t>12</a:t>
            </a:fld>
            <a:endParaRPr lang="en-IN"/>
          </a:p>
        </p:txBody>
      </p:sp>
    </p:spTree>
    <p:extLst>
      <p:ext uri="{BB962C8B-B14F-4D97-AF65-F5344CB8AC3E}">
        <p14:creationId xmlns:p14="http://schemas.microsoft.com/office/powerpoint/2010/main" val="1988303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EE31-624A-AF9F-DF90-799F05C6FF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A903BF-DB6C-D8D5-63D9-5610E7D08B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8A466B-0055-C632-D11B-6DD7770DA408}"/>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5568DAA9-75C9-413B-9C24-57CEC22679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481ED-3AB8-F3E7-9AE8-189EEFC558B0}"/>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235010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571B9-F803-D7B5-61B5-09524790E7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03AFAA-DE8E-0651-51AB-D4349EA672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8D0531-898C-33FB-7716-555E78F76B54}"/>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6707A22D-26C3-F9E9-EE07-426C0F6007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43CC4A-A158-CCA1-0629-24334F8CDF04}"/>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56011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5296-E157-125E-EE03-6A7F57E98C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76134A-8E6B-0261-4636-D55ADF1EA8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271B04-6CAD-EB6B-3DE5-A21E0A00ADE8}"/>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0CB61E29-30EE-F532-AEC0-E8CC1780E7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64D5D-6E30-FAE3-C079-056EF105B2CD}"/>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552560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52FEE-B18A-97AA-EC41-652582C7F5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ABE770-5D0B-11F4-85C8-2AC5268ABA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6F120B-46A6-C165-A8BB-F637A258A8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805614-838A-1D1D-7C2F-93BE6702CB51}"/>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6" name="Footer Placeholder 5">
            <a:extLst>
              <a:ext uri="{FF2B5EF4-FFF2-40B4-BE49-F238E27FC236}">
                <a16:creationId xmlns:a16="http://schemas.microsoft.com/office/drawing/2014/main" id="{639D37DF-DE76-6050-6544-61DE3B7020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1A404C-ECBA-4A98-E99F-2459E0B9FD04}"/>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63019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BF4B-E015-8771-4D2D-68769FD773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E39BAB-C7AD-58F9-9F22-7EA8BB8505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DB6F14-5058-05C4-EEA1-F22D692D9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569910-2BA6-C265-0ADF-0D25D03957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27D10E-F4E4-617C-807B-D436ADF14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FAEFBF-0663-6B60-6F25-80A4BEC11F9A}"/>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8" name="Footer Placeholder 7">
            <a:extLst>
              <a:ext uri="{FF2B5EF4-FFF2-40B4-BE49-F238E27FC236}">
                <a16:creationId xmlns:a16="http://schemas.microsoft.com/office/drawing/2014/main" id="{BA14FCF7-48AB-B040-BD9E-E6D1BEEC99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71A29C-8702-9580-D463-3E5627AC5C1F}"/>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324598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4D1B-792C-3B04-C3EA-B1D27833EE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303D47-501C-75EA-7A99-0C091D251833}"/>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4" name="Footer Placeholder 3">
            <a:extLst>
              <a:ext uri="{FF2B5EF4-FFF2-40B4-BE49-F238E27FC236}">
                <a16:creationId xmlns:a16="http://schemas.microsoft.com/office/drawing/2014/main" id="{49F65C6E-862C-3265-0DD7-AA8C925758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C9254C-A872-7B06-A9EC-B8636EC211A2}"/>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6077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AFC244-D56F-75C1-6B5B-27E4543BB1FD}"/>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3" name="Footer Placeholder 2">
            <a:extLst>
              <a:ext uri="{FF2B5EF4-FFF2-40B4-BE49-F238E27FC236}">
                <a16:creationId xmlns:a16="http://schemas.microsoft.com/office/drawing/2014/main" id="{4C74F26E-C33C-DE44-ACCC-3CC88FBDE1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B7D2FF-D2F8-2694-B5A6-170D3BF37EA8}"/>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678077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FF682-907D-A80E-CCB5-69C46893E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B56D4F-8698-619F-67A7-66A6C2A52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A36238-0D6C-07C0-AEEC-3D4F1B6E1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BD43B-0416-ADB8-96B5-304613FE3B43}"/>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6" name="Footer Placeholder 5">
            <a:extLst>
              <a:ext uri="{FF2B5EF4-FFF2-40B4-BE49-F238E27FC236}">
                <a16:creationId xmlns:a16="http://schemas.microsoft.com/office/drawing/2014/main" id="{91EED3CE-EB36-A84D-35BC-D1BDB39661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2EDF9-E666-6DC9-FC2D-C36AF4F1FADE}"/>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773169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01AC7-613B-1E50-2619-490EEA87C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3AB0EC-CEA8-2750-C492-DD18CB67C2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AB4ABC-8B85-6CBB-9B64-FA266C2168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9D55C-5D2E-3125-0EA7-BFE1BDDC735C}"/>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6" name="Footer Placeholder 5">
            <a:extLst>
              <a:ext uri="{FF2B5EF4-FFF2-40B4-BE49-F238E27FC236}">
                <a16:creationId xmlns:a16="http://schemas.microsoft.com/office/drawing/2014/main" id="{3E8A483F-8A91-CAF5-C4D5-F124B99F70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49F49-5B54-DDBD-B68B-79984ED06305}"/>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2115711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91D0-F395-496A-6A85-FF1FD1EBE7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1F2207-9ADD-30C7-F978-47D81229AF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09171-C43D-A522-E036-30D134036808}"/>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09C6CFE9-1CFB-857C-3A5F-F9C153DEF2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2336E-9CB4-BEE5-9842-AB25914A6B72}"/>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1256976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AD24-8ACD-1C7F-D911-59AB53819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BEAF3B-04C4-A83E-9E68-3D2E0D5E88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C182A-A1F7-8E57-B6A8-C4E0F1A7A548}"/>
              </a:ext>
            </a:extLst>
          </p:cNvPr>
          <p:cNvSpPr>
            <a:spLocks noGrp="1"/>
          </p:cNvSpPr>
          <p:nvPr>
            <p:ph type="dt" sz="half" idx="10"/>
          </p:nvPr>
        </p:nvSpPr>
        <p:spPr/>
        <p:txBody>
          <a:body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16907561-B0BB-9A21-DA0B-82D8E985A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F9003-96C9-1B1E-84A6-FC0212B54CCB}"/>
              </a:ext>
            </a:extLst>
          </p:cNvPr>
          <p:cNvSpPr>
            <a:spLocks noGrp="1"/>
          </p:cNvSpPr>
          <p:nvPr>
            <p:ph type="sldNum" sz="quarter" idx="12"/>
          </p:nvPr>
        </p:nvSpPr>
        <p:spPr/>
        <p:txBody>
          <a:bodyPr/>
          <a:lstStyle/>
          <a:p>
            <a:fld id="{A8E2A1B6-1944-482D-9620-4E3AFFBDB01A}" type="slidenum">
              <a:rPr lang="en-IN" smtClean="0"/>
              <a:t>‹#›</a:t>
            </a:fld>
            <a:endParaRPr lang="en-IN"/>
          </a:p>
        </p:txBody>
      </p:sp>
    </p:spTree>
    <p:extLst>
      <p:ext uri="{BB962C8B-B14F-4D97-AF65-F5344CB8AC3E}">
        <p14:creationId xmlns:p14="http://schemas.microsoft.com/office/powerpoint/2010/main" val="2398764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CED7C-9B28-FBE0-2EBC-C01E9265E3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14ADB3-F9EC-9C30-FAB8-622FEC1151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BF110-79C5-6F9A-9978-2C6E7BD229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A8AC9-F5C4-4276-8E6D-5DD4E18EABEC}" type="datetimeFigureOut">
              <a:rPr lang="en-IN" smtClean="0"/>
              <a:t>24-08-2026</a:t>
            </a:fld>
            <a:endParaRPr lang="en-IN"/>
          </a:p>
        </p:txBody>
      </p:sp>
      <p:sp>
        <p:nvSpPr>
          <p:cNvPr id="5" name="Footer Placeholder 4">
            <a:extLst>
              <a:ext uri="{FF2B5EF4-FFF2-40B4-BE49-F238E27FC236}">
                <a16:creationId xmlns:a16="http://schemas.microsoft.com/office/drawing/2014/main" id="{C8FBC6BF-5C11-7CF6-E30D-4A7EFF192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A2794D0-7997-C1B8-BF4A-DCC9C9D798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2A1B6-1944-482D-9620-4E3AFFBDB01A}" type="slidenum">
              <a:rPr lang="en-IN" smtClean="0"/>
              <a:t>‹#›</a:t>
            </a:fld>
            <a:endParaRPr lang="en-IN"/>
          </a:p>
        </p:txBody>
      </p:sp>
    </p:spTree>
    <p:extLst>
      <p:ext uri="{BB962C8B-B14F-4D97-AF65-F5344CB8AC3E}">
        <p14:creationId xmlns:p14="http://schemas.microsoft.com/office/powerpoint/2010/main" val="3627505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BBE06-F4D5-FC7B-A070-F92678667F7E}"/>
              </a:ext>
            </a:extLst>
          </p:cNvPr>
          <p:cNvSpPr txBox="1"/>
          <p:nvPr/>
        </p:nvSpPr>
        <p:spPr>
          <a:xfrm>
            <a:off x="688258" y="373626"/>
            <a:ext cx="10903974" cy="861774"/>
          </a:xfrm>
          <a:prstGeom prst="rect">
            <a:avLst/>
          </a:prstGeom>
          <a:noFill/>
        </p:spPr>
        <p:txBody>
          <a:bodyPr wrap="square" rtlCol="0">
            <a:spAutoFit/>
          </a:bodyPr>
          <a:lstStyle/>
          <a:p>
            <a:r>
              <a:rPr lang="en-IN" sz="2500" b="1" dirty="0">
                <a:solidFill>
                  <a:srgbClr val="002060"/>
                </a:solidFill>
                <a:latin typeface="Arial" panose="020B0604020202020204" pitchFamily="34" charset="0"/>
                <a:cs typeface="Arial" panose="020B0604020202020204" pitchFamily="34" charset="0"/>
              </a:rPr>
              <a:t>AI-Based Social Media Sentiment and Trend Analysis Platform for Women’s Safety</a:t>
            </a:r>
          </a:p>
        </p:txBody>
      </p:sp>
      <p:sp>
        <p:nvSpPr>
          <p:cNvPr id="5" name="TextBox 4">
            <a:extLst>
              <a:ext uri="{FF2B5EF4-FFF2-40B4-BE49-F238E27FC236}">
                <a16:creationId xmlns:a16="http://schemas.microsoft.com/office/drawing/2014/main" id="{0F9A1CF1-54F2-CF11-CCF0-EFCF34DE0888}"/>
              </a:ext>
            </a:extLst>
          </p:cNvPr>
          <p:cNvSpPr txBox="1"/>
          <p:nvPr/>
        </p:nvSpPr>
        <p:spPr>
          <a:xfrm>
            <a:off x="688258" y="1435509"/>
            <a:ext cx="4866968" cy="338554"/>
          </a:xfrm>
          <a:prstGeom prst="rect">
            <a:avLst/>
          </a:prstGeom>
          <a:noFill/>
        </p:spPr>
        <p:txBody>
          <a:bodyPr wrap="square" rtlCol="0">
            <a:spAutoFit/>
          </a:bodyPr>
          <a:lstStyle/>
          <a:p>
            <a:r>
              <a:rPr lang="en-IN" sz="1600" b="1" dirty="0"/>
              <a:t>FINAL YEAR B.TECH CAPSTONE PROJECT</a:t>
            </a:r>
          </a:p>
        </p:txBody>
      </p:sp>
      <p:sp>
        <p:nvSpPr>
          <p:cNvPr id="6" name="TextBox 5">
            <a:extLst>
              <a:ext uri="{FF2B5EF4-FFF2-40B4-BE49-F238E27FC236}">
                <a16:creationId xmlns:a16="http://schemas.microsoft.com/office/drawing/2014/main" id="{AEC6D2BB-AB1B-E001-00B0-2F09415574D5}"/>
              </a:ext>
            </a:extLst>
          </p:cNvPr>
          <p:cNvSpPr txBox="1"/>
          <p:nvPr/>
        </p:nvSpPr>
        <p:spPr>
          <a:xfrm>
            <a:off x="8957187" y="5381169"/>
            <a:ext cx="2163097" cy="369332"/>
          </a:xfrm>
          <a:prstGeom prst="rect">
            <a:avLst/>
          </a:prstGeom>
          <a:noFill/>
        </p:spPr>
        <p:txBody>
          <a:bodyPr wrap="square" rtlCol="0">
            <a:spAutoFit/>
          </a:bodyPr>
          <a:lstStyle/>
          <a:p>
            <a:r>
              <a:rPr lang="en-IN" b="1" dirty="0">
                <a:solidFill>
                  <a:srgbClr val="002060"/>
                </a:solidFill>
              </a:rPr>
              <a:t>CSE-3 </a:t>
            </a:r>
            <a:r>
              <a:rPr lang="en-IN" dirty="0"/>
              <a:t> | </a:t>
            </a:r>
            <a:r>
              <a:rPr lang="en-IN" dirty="0">
                <a:solidFill>
                  <a:srgbClr val="0070C0"/>
                </a:solidFill>
              </a:rPr>
              <a:t>BATCH-220</a:t>
            </a:r>
          </a:p>
        </p:txBody>
      </p:sp>
      <p:sp>
        <p:nvSpPr>
          <p:cNvPr id="9" name="TextBox 8">
            <a:extLst>
              <a:ext uri="{FF2B5EF4-FFF2-40B4-BE49-F238E27FC236}">
                <a16:creationId xmlns:a16="http://schemas.microsoft.com/office/drawing/2014/main" id="{818B49D6-5418-02C3-3496-2F12F5B02519}"/>
              </a:ext>
            </a:extLst>
          </p:cNvPr>
          <p:cNvSpPr txBox="1"/>
          <p:nvPr/>
        </p:nvSpPr>
        <p:spPr>
          <a:xfrm>
            <a:off x="875072" y="1974172"/>
            <a:ext cx="2438400" cy="415498"/>
          </a:xfrm>
          <a:prstGeom prst="rect">
            <a:avLst/>
          </a:prstGeom>
          <a:noFill/>
        </p:spPr>
        <p:txBody>
          <a:bodyPr wrap="square" rtlCol="0">
            <a:spAutoFit/>
          </a:bodyPr>
          <a:lstStyle/>
          <a:p>
            <a:r>
              <a:rPr lang="en-IN" sz="2100" b="1" dirty="0"/>
              <a:t>PROJECT TEAM :</a:t>
            </a:r>
          </a:p>
        </p:txBody>
      </p:sp>
      <p:sp>
        <p:nvSpPr>
          <p:cNvPr id="11" name="TextBox 10">
            <a:extLst>
              <a:ext uri="{FF2B5EF4-FFF2-40B4-BE49-F238E27FC236}">
                <a16:creationId xmlns:a16="http://schemas.microsoft.com/office/drawing/2014/main" id="{D9AC962C-B25C-DA69-E521-A3CC34B88FAE}"/>
              </a:ext>
            </a:extLst>
          </p:cNvPr>
          <p:cNvSpPr txBox="1"/>
          <p:nvPr/>
        </p:nvSpPr>
        <p:spPr>
          <a:xfrm>
            <a:off x="688258" y="2789592"/>
            <a:ext cx="7295536" cy="1631216"/>
          </a:xfrm>
          <a:prstGeom prst="rect">
            <a:avLst/>
          </a:prstGeom>
          <a:noFill/>
        </p:spPr>
        <p:txBody>
          <a:bodyPr wrap="square" rtlCol="0">
            <a:spAutoFit/>
          </a:bodyPr>
          <a:lstStyle/>
          <a:p>
            <a:r>
              <a:rPr lang="en-IN" sz="2000" b="1" dirty="0">
                <a:solidFill>
                  <a:schemeClr val="accent2">
                    <a:lumMod val="75000"/>
                  </a:schemeClr>
                </a:solidFill>
                <a:latin typeface="Lucida Bright" panose="02040602050505020304" pitchFamily="18" charset="0"/>
              </a:rPr>
              <a:t>KAVYA NAYANA — 2300033848</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INTI HANITHA SAI GAYATHRI — 2300032512</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KOKKILIGADDA T.V. DURGA RAO — 2300032267</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BADAM SUDHEER REDDY — 2300033278</a:t>
            </a:r>
            <a:br>
              <a:rPr lang="en-IN" sz="2000" b="1" dirty="0">
                <a:solidFill>
                  <a:schemeClr val="accent2">
                    <a:lumMod val="75000"/>
                  </a:schemeClr>
                </a:solidFill>
                <a:latin typeface="Lucida Bright" panose="02040602050505020304" pitchFamily="18" charset="0"/>
              </a:rPr>
            </a:br>
            <a:r>
              <a:rPr lang="en-IN" sz="2000" b="1" dirty="0">
                <a:solidFill>
                  <a:schemeClr val="accent2">
                    <a:lumMod val="75000"/>
                  </a:schemeClr>
                </a:solidFill>
                <a:latin typeface="Lucida Bright" panose="02040602050505020304" pitchFamily="18" charset="0"/>
              </a:rPr>
              <a:t>GARIKAPATI SATYA KEERTHIKA — 2300030988</a:t>
            </a:r>
          </a:p>
        </p:txBody>
      </p:sp>
      <p:pic>
        <p:nvPicPr>
          <p:cNvPr id="16" name="Picture 15">
            <a:extLst>
              <a:ext uri="{FF2B5EF4-FFF2-40B4-BE49-F238E27FC236}">
                <a16:creationId xmlns:a16="http://schemas.microsoft.com/office/drawing/2014/main" id="{2F827223-126B-FEA1-7DAA-3E24D17B5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5032" y="806245"/>
            <a:ext cx="4772928" cy="4468532"/>
          </a:xfrm>
          <a:prstGeom prst="rect">
            <a:avLst/>
          </a:prstGeom>
        </p:spPr>
      </p:pic>
      <p:pic>
        <p:nvPicPr>
          <p:cNvPr id="18" name="Picture 17">
            <a:extLst>
              <a:ext uri="{FF2B5EF4-FFF2-40B4-BE49-F238E27FC236}">
                <a16:creationId xmlns:a16="http://schemas.microsoft.com/office/drawing/2014/main" id="{7E244CF5-6E52-8060-13C3-F9D74C45B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9600" y="5274777"/>
            <a:ext cx="727587" cy="582115"/>
          </a:xfrm>
          <a:prstGeom prst="rect">
            <a:avLst/>
          </a:prstGeom>
        </p:spPr>
      </p:pic>
      <p:sp>
        <p:nvSpPr>
          <p:cNvPr id="19" name="TextBox 18">
            <a:extLst>
              <a:ext uri="{FF2B5EF4-FFF2-40B4-BE49-F238E27FC236}">
                <a16:creationId xmlns:a16="http://schemas.microsoft.com/office/drawing/2014/main" id="{C99AE556-7F0A-1979-F50A-3FDC3F52C12A}"/>
              </a:ext>
            </a:extLst>
          </p:cNvPr>
          <p:cNvSpPr txBox="1"/>
          <p:nvPr/>
        </p:nvSpPr>
        <p:spPr>
          <a:xfrm>
            <a:off x="875072" y="4820730"/>
            <a:ext cx="6422924" cy="923330"/>
          </a:xfrm>
          <a:prstGeom prst="rect">
            <a:avLst/>
          </a:prstGeom>
          <a:noFill/>
        </p:spPr>
        <p:txBody>
          <a:bodyPr wrap="square" rtlCol="0">
            <a:spAutoFit/>
          </a:bodyPr>
          <a:lstStyle/>
          <a:p>
            <a:r>
              <a:rPr lang="en-IN" b="1" dirty="0">
                <a:solidFill>
                  <a:schemeClr val="accent5">
                    <a:lumMod val="75000"/>
                  </a:schemeClr>
                </a:solidFill>
              </a:rPr>
              <a:t>Guide: Mr. M. Subba Rao    M-Tech</a:t>
            </a:r>
          </a:p>
          <a:p>
            <a:r>
              <a:rPr lang="en-IN" b="1" dirty="0">
                <a:latin typeface="Times New Roman" panose="02020603050405020304" pitchFamily="18" charset="0"/>
                <a:cs typeface="Times New Roman" panose="02020603050405020304" pitchFamily="18" charset="0"/>
              </a:rPr>
              <a:t>Assistant Professor, Department of Computer Science and Engineering </a:t>
            </a:r>
          </a:p>
        </p:txBody>
      </p:sp>
      <p:sp>
        <p:nvSpPr>
          <p:cNvPr id="20" name="TextBox 19">
            <a:extLst>
              <a:ext uri="{FF2B5EF4-FFF2-40B4-BE49-F238E27FC236}">
                <a16:creationId xmlns:a16="http://schemas.microsoft.com/office/drawing/2014/main" id="{7615EFFB-B8F5-FFF0-57DA-06113DA2E855}"/>
              </a:ext>
            </a:extLst>
          </p:cNvPr>
          <p:cNvSpPr txBox="1"/>
          <p:nvPr/>
        </p:nvSpPr>
        <p:spPr>
          <a:xfrm>
            <a:off x="3244645" y="6581001"/>
            <a:ext cx="12097960" cy="276999"/>
          </a:xfrm>
          <a:prstGeom prst="rect">
            <a:avLst/>
          </a:prstGeom>
          <a:noFill/>
        </p:spPr>
        <p:txBody>
          <a:bodyPr wrap="square" rtlCol="0">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27143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14FCC7-CEE0-CB8F-464D-3BDFBECB7EE7}"/>
              </a:ext>
            </a:extLst>
          </p:cNvPr>
          <p:cNvSpPr txBox="1"/>
          <p:nvPr/>
        </p:nvSpPr>
        <p:spPr>
          <a:xfrm>
            <a:off x="3067665" y="6581001"/>
            <a:ext cx="9124335"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4" name="TextBox 3">
            <a:extLst>
              <a:ext uri="{FF2B5EF4-FFF2-40B4-BE49-F238E27FC236}">
                <a16:creationId xmlns:a16="http://schemas.microsoft.com/office/drawing/2014/main" id="{03C6DAF2-CA55-82EF-B153-B4D56AD51A0A}"/>
              </a:ext>
            </a:extLst>
          </p:cNvPr>
          <p:cNvSpPr txBox="1"/>
          <p:nvPr/>
        </p:nvSpPr>
        <p:spPr>
          <a:xfrm>
            <a:off x="875071" y="1054199"/>
            <a:ext cx="9488129" cy="3293209"/>
          </a:xfrm>
          <a:prstGeom prst="rect">
            <a:avLst/>
          </a:prstGeom>
          <a:noFill/>
        </p:spPr>
        <p:txBody>
          <a:bodyPr wrap="square" rtlCol="0">
            <a:spAutoFit/>
          </a:bodyPr>
          <a:lstStyle/>
          <a:p>
            <a:pPr lvl="0"/>
            <a:r>
              <a:rPr lang="en-IN" sz="1900" dirty="0"/>
              <a:t>•  </a:t>
            </a:r>
            <a:r>
              <a:rPr lang="en-IN" sz="1900" dirty="0">
                <a:latin typeface="Times New Roman" panose="02020603050405020304" pitchFamily="18" charset="0"/>
                <a:cs typeface="Times New Roman" panose="02020603050405020304" pitchFamily="18" charset="0"/>
              </a:rPr>
              <a:t>Women’s safety is an important social concern, and social media contains public discussions about incidents. </a:t>
            </a:r>
          </a:p>
          <a:p>
            <a:pPr lvl="0"/>
            <a:r>
              <a:rPr lang="en-IN" sz="1900" dirty="0">
                <a:latin typeface="Times New Roman" panose="02020603050405020304" pitchFamily="18" charset="0"/>
                <a:cs typeface="Times New Roman" panose="02020603050405020304" pitchFamily="18" charset="0"/>
              </a:rPr>
              <a:t>•   Safety-related posts are often informal, unstructured and difficult to review    manually. </a:t>
            </a:r>
          </a:p>
          <a:p>
            <a:pPr lvl="0"/>
            <a:r>
              <a:rPr lang="en-IN" sz="1900" dirty="0">
                <a:latin typeface="Times New Roman" panose="02020603050405020304" pitchFamily="18" charset="0"/>
                <a:cs typeface="Times New Roman" panose="02020603050405020304" pitchFamily="18" charset="0"/>
              </a:rPr>
              <a:t>• Large volumes of posts make it difficult to identify important information quickly. </a:t>
            </a:r>
          </a:p>
          <a:p>
            <a:pPr lvl="0"/>
            <a:r>
              <a:rPr lang="en-IN" sz="1900" dirty="0">
                <a:latin typeface="Times New Roman" panose="02020603050405020304" pitchFamily="18" charset="0"/>
                <a:cs typeface="Times New Roman" panose="02020603050405020304" pitchFamily="18" charset="0"/>
              </a:rPr>
              <a:t>• Repeated reports from the same location may not be obvious when posts are viewed separately. </a:t>
            </a:r>
          </a:p>
          <a:p>
            <a:pPr lvl="0"/>
            <a:r>
              <a:rPr lang="en-IN" sz="1900" dirty="0">
                <a:latin typeface="Times New Roman" panose="02020603050405020304" pitchFamily="18" charset="0"/>
                <a:cs typeface="Times New Roman" panose="02020603050405020304" pitchFamily="18" charset="0"/>
              </a:rPr>
              <a:t>• Different incidents can have different levels of concern and require suitable classification. </a:t>
            </a:r>
          </a:p>
          <a:p>
            <a:pPr lvl="0"/>
            <a:r>
              <a:rPr lang="en-IN" sz="1900" dirty="0">
                <a:latin typeface="Times New Roman" panose="02020603050405020304" pitchFamily="18" charset="0"/>
                <a:cs typeface="Times New Roman" panose="02020603050405020304" pitchFamily="18" charset="0"/>
              </a:rPr>
              <a:t>• A simple visual system is needed to understand safety patterns across time and locations. </a:t>
            </a:r>
          </a:p>
          <a:p>
            <a:pPr lvl="0"/>
            <a:r>
              <a:rPr lang="en-IN" sz="1900" dirty="0">
                <a:latin typeface="Times New Roman" panose="02020603050405020304" pitchFamily="18" charset="0"/>
                <a:cs typeface="Times New Roman" panose="02020603050405020304" pitchFamily="18" charset="0"/>
              </a:rPr>
              <a:t>• Our project uses AI and data analysis to organize these observations into useful  insights. </a:t>
            </a:r>
          </a:p>
          <a:p>
            <a:pPr lvl="0"/>
            <a:r>
              <a:rPr lang="en-IN" sz="1900" dirty="0">
                <a:latin typeface="Times New Roman" panose="02020603050405020304" pitchFamily="18" charset="0"/>
                <a:cs typeface="Times New Roman" panose="02020603050405020304" pitchFamily="18" charset="0"/>
              </a:rPr>
              <a:t>• The system is designed as an academic prototype to support awareness and analysis.</a:t>
            </a:r>
          </a:p>
          <a:p>
            <a:endParaRPr lang="en-IN" dirty="0"/>
          </a:p>
        </p:txBody>
      </p:sp>
      <p:sp>
        <p:nvSpPr>
          <p:cNvPr id="8" name="TextBox 7">
            <a:extLst>
              <a:ext uri="{FF2B5EF4-FFF2-40B4-BE49-F238E27FC236}">
                <a16:creationId xmlns:a16="http://schemas.microsoft.com/office/drawing/2014/main" id="{F1A947DC-9C74-065B-A98D-DE17D385A71B}"/>
              </a:ext>
            </a:extLst>
          </p:cNvPr>
          <p:cNvSpPr txBox="1"/>
          <p:nvPr/>
        </p:nvSpPr>
        <p:spPr>
          <a:xfrm>
            <a:off x="314632" y="377920"/>
            <a:ext cx="6096000" cy="430887"/>
          </a:xfrm>
          <a:prstGeom prst="rect">
            <a:avLst/>
          </a:prstGeom>
          <a:noFill/>
        </p:spPr>
        <p:txBody>
          <a:bodyPr wrap="square">
            <a:spAutoFit/>
          </a:bodyPr>
          <a:lstStyle/>
          <a:p>
            <a:r>
              <a:rPr lang="en-IN" sz="2200" b="1" dirty="0">
                <a:solidFill>
                  <a:schemeClr val="accent1">
                    <a:lumMod val="75000"/>
                  </a:schemeClr>
                </a:solidFill>
                <a:latin typeface="Lucida Bright" panose="02040602050505020304" pitchFamily="18" charset="0"/>
              </a:rPr>
              <a:t>PROBLEM AND MOTIVATION</a:t>
            </a:r>
          </a:p>
        </p:txBody>
      </p:sp>
      <p:sp>
        <p:nvSpPr>
          <p:cNvPr id="9" name="Rectangle: Rounded Corners 8">
            <a:extLst>
              <a:ext uri="{FF2B5EF4-FFF2-40B4-BE49-F238E27FC236}">
                <a16:creationId xmlns:a16="http://schemas.microsoft.com/office/drawing/2014/main" id="{CAEE135A-3AE8-E170-A91B-CE33F9284CA4}"/>
              </a:ext>
            </a:extLst>
          </p:cNvPr>
          <p:cNvSpPr/>
          <p:nvPr/>
        </p:nvSpPr>
        <p:spPr>
          <a:xfrm>
            <a:off x="2885767" y="4372611"/>
            <a:ext cx="6420465" cy="688258"/>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r>
              <a:rPr lang="en-IN" dirty="0">
                <a:solidFill>
                  <a:srgbClr val="FF0000"/>
                </a:solidFill>
              </a:rPr>
              <a:t>     Social Media → Large Data → Manual Analysis → Difficult</a:t>
            </a:r>
          </a:p>
        </p:txBody>
      </p:sp>
    </p:spTree>
    <p:extLst>
      <p:ext uri="{BB962C8B-B14F-4D97-AF65-F5344CB8AC3E}">
        <p14:creationId xmlns:p14="http://schemas.microsoft.com/office/powerpoint/2010/main" val="264680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79D400-A2E9-121B-E049-936C88D28CC5}"/>
              </a:ext>
            </a:extLst>
          </p:cNvPr>
          <p:cNvSpPr txBox="1"/>
          <p:nvPr/>
        </p:nvSpPr>
        <p:spPr>
          <a:xfrm>
            <a:off x="235974" y="110302"/>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8AF7397-23F6-2F39-AC38-4C797E5D4F3E}"/>
              </a:ext>
            </a:extLst>
          </p:cNvPr>
          <p:cNvSpPr txBox="1"/>
          <p:nvPr/>
        </p:nvSpPr>
        <p:spPr>
          <a:xfrm>
            <a:off x="570271" y="885013"/>
            <a:ext cx="8711381" cy="2862322"/>
          </a:xfrm>
          <a:prstGeom prst="rect">
            <a:avLst/>
          </a:prstGeom>
          <a:noFill/>
        </p:spPr>
        <p:txBody>
          <a:bodyPr wrap="square">
            <a:spAutoFit/>
          </a:bodyPr>
          <a:lstStyle/>
          <a:p>
            <a:r>
              <a:rPr lang="en-IN" dirty="0"/>
              <a:t>• </a:t>
            </a:r>
            <a:r>
              <a:rPr lang="en-IN" sz="2000" dirty="0">
                <a:latin typeface="Times New Roman" panose="02020603050405020304" pitchFamily="18" charset="0"/>
                <a:cs typeface="Times New Roman" panose="02020603050405020304" pitchFamily="18" charset="0"/>
              </a:rPr>
              <a:t>Safety-related information is available across different social-media posts.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information is not available in one organized form.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Identifying sentiment from a large number of posts is difficult manually.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Finding common incident patterns also requires detailed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Location-based safety information may be difficult to understand from individual posts.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There is a need for a simple platform to organize this information.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project will explore AI-based text and trend analysis techniques.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proposed idea will be studied and developed during the capstone project</a:t>
            </a:r>
            <a:r>
              <a:rPr lang="en-IN" dirty="0"/>
              <a:t>.</a:t>
            </a:r>
          </a:p>
        </p:txBody>
      </p:sp>
      <p:sp>
        <p:nvSpPr>
          <p:cNvPr id="7" name="TextBox 6">
            <a:extLst>
              <a:ext uri="{FF2B5EF4-FFF2-40B4-BE49-F238E27FC236}">
                <a16:creationId xmlns:a16="http://schemas.microsoft.com/office/drawing/2014/main" id="{A49A5476-4062-F0BA-17F3-609A742865A2}"/>
              </a:ext>
            </a:extLst>
          </p:cNvPr>
          <p:cNvSpPr txBox="1"/>
          <p:nvPr/>
        </p:nvSpPr>
        <p:spPr>
          <a:xfrm>
            <a:off x="2841523"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191605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B902BF-F846-850F-EB8A-207AEF47E165}"/>
              </a:ext>
            </a:extLst>
          </p:cNvPr>
          <p:cNvSpPr txBox="1"/>
          <p:nvPr/>
        </p:nvSpPr>
        <p:spPr>
          <a:xfrm>
            <a:off x="167148" y="108344"/>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LITERATURE SURVEY</a:t>
            </a:r>
          </a:p>
        </p:txBody>
      </p:sp>
      <p:sp>
        <p:nvSpPr>
          <p:cNvPr id="6" name="TextBox 5">
            <a:extLst>
              <a:ext uri="{FF2B5EF4-FFF2-40B4-BE49-F238E27FC236}">
                <a16:creationId xmlns:a16="http://schemas.microsoft.com/office/drawing/2014/main" id="{CEA063BF-0AF3-3938-9873-E950CA7927F4}"/>
              </a:ext>
            </a:extLst>
          </p:cNvPr>
          <p:cNvSpPr txBox="1"/>
          <p:nvPr/>
        </p:nvSpPr>
        <p:spPr>
          <a:xfrm>
            <a:off x="747252" y="585398"/>
            <a:ext cx="11444748" cy="6340197"/>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We are currently studying existing research related to women’s safety.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Previous studies use social-media data for sentiment analysis.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NLP techniques are commonly used for processing social-media text.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Machine-learning methods are used for text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Some studies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safety concerns based on location or incident type.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Research also explores visualization of social-media analysis results.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These studies help us understand suitable methods for our project.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The literature survey will help us finalize our project methodology.</a:t>
            </a:r>
            <a:endParaRPr lang="en-IN" sz="2000" b="1" u="sng" dirty="0">
              <a:solidFill>
                <a:schemeClr val="accent6">
                  <a:lumMod val="75000"/>
                </a:schemeClr>
              </a:solidFill>
              <a:latin typeface="Times New Roman" panose="02020603050405020304" pitchFamily="18" charset="0"/>
              <a:cs typeface="Times New Roman" panose="02020603050405020304" pitchFamily="18" charset="0"/>
            </a:endParaRPr>
          </a:p>
          <a:p>
            <a:endParaRPr lang="en-IN" sz="2000" b="1" u="sng" dirty="0">
              <a:solidFill>
                <a:schemeClr val="accent6">
                  <a:lumMod val="75000"/>
                </a:schemeClr>
              </a:solidFill>
              <a:latin typeface="Times New Roman" panose="02020603050405020304" pitchFamily="18" charset="0"/>
              <a:cs typeface="Times New Roman" panose="02020603050405020304" pitchFamily="18" charset="0"/>
            </a:endParaRPr>
          </a:p>
          <a:p>
            <a:r>
              <a:rPr lang="en-IN" sz="2000" b="1" u="sng" dirty="0">
                <a:solidFill>
                  <a:schemeClr val="accent6">
                    <a:lumMod val="75000"/>
                  </a:schemeClr>
                </a:solidFill>
                <a:latin typeface="Times New Roman" panose="02020603050405020304" pitchFamily="18" charset="0"/>
                <a:cs typeface="Times New Roman" panose="02020603050405020304" pitchFamily="18" charset="0"/>
              </a:rPr>
              <a:t>AUTHORS:- </a:t>
            </a:r>
          </a:p>
          <a:p>
            <a:endParaRPr lang="en-IN" sz="2300" b="1" u="sng"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IN" sz="2000" b="1" dirty="0">
                <a:latin typeface="Times New Roman" panose="02020603050405020304" pitchFamily="18" charset="0"/>
                <a:cs typeface="Times New Roman" panose="02020603050405020304" pitchFamily="18" charset="0"/>
              </a:rPr>
              <a:t>Sanjay Kumar et al. (2021)</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Empowering Women Safety: Innovative App Leveraging Machine Learning and Flutter for Emergency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They proposed a mobile-based women's safety application using Machine Learning and Flutter. The system focuses on emergency assistance, live location sharing, emergency contacts and crime-related prediction. This work shows how ML and mobile technology can provide quick assistance during dangerous situations</a:t>
            </a:r>
            <a:r>
              <a:rPr lang="en-IN" sz="2000" dirty="0"/>
              <a:t>.</a:t>
            </a:r>
          </a:p>
          <a:p>
            <a:pPr marL="342900" indent="-342900">
              <a:buAutoNum type="arabicPeriod"/>
            </a:pPr>
            <a:endParaRPr lang="en-IN" sz="2000" dirty="0"/>
          </a:p>
          <a:p>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5634044-4FC5-8A75-E371-F1B1CF349AC2}"/>
              </a:ext>
            </a:extLst>
          </p:cNvPr>
          <p:cNvSpPr txBox="1"/>
          <p:nvPr/>
        </p:nvSpPr>
        <p:spPr>
          <a:xfrm>
            <a:off x="2831690" y="6611156"/>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3099040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0C84EC-FDE0-7AE6-363E-A28DC9A275B2}"/>
              </a:ext>
            </a:extLst>
          </p:cNvPr>
          <p:cNvSpPr txBox="1"/>
          <p:nvPr/>
        </p:nvSpPr>
        <p:spPr>
          <a:xfrm>
            <a:off x="344129" y="457481"/>
            <a:ext cx="11031794" cy="6217087"/>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3. S. Gokulakrishnan et al. (2022)</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Machine Learning of Twitter Feeds and Women Safety in Indian Cities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used Machine Learning and Twitter/social-media data to study women's safety in Indian cities. Social-media information can help identify safety-related incidents, harassment and public concerns. This approach demonstrates how ML can analyse large amounts of online data for safety applications</a:t>
            </a:r>
            <a:r>
              <a:rPr lang="en-IN" sz="2000" dirty="0"/>
              <a:t>.</a:t>
            </a:r>
          </a:p>
          <a:p>
            <a:endParaRPr lang="en-IN" sz="2000" dirty="0"/>
          </a:p>
          <a:p>
            <a:r>
              <a:rPr lang="en-IN" sz="2000" b="1" dirty="0">
                <a:latin typeface="Times New Roman" panose="02020603050405020304" pitchFamily="18" charset="0"/>
                <a:cs typeface="Times New Roman" panose="02020603050405020304" pitchFamily="18" charset="0"/>
              </a:rPr>
              <a:t>4. Ameelia Roseline </a:t>
            </a:r>
            <a:r>
              <a:rPr lang="en-IN" sz="2000" b="1" dirty="0" err="1">
                <a:latin typeface="Times New Roman" panose="02020603050405020304" pitchFamily="18" charset="0"/>
                <a:cs typeface="Times New Roman" panose="02020603050405020304" pitchFamily="18" charset="0"/>
              </a:rPr>
              <a:t>Arundhuswamy</a:t>
            </a:r>
            <a:r>
              <a:rPr lang="en-IN" sz="2000" b="1" dirty="0">
                <a:latin typeface="Times New Roman" panose="02020603050405020304" pitchFamily="18" charset="0"/>
                <a:cs typeface="Times New Roman" panose="02020603050405020304" pitchFamily="18" charset="0"/>
              </a:rPr>
              <a:t> et al. (2023)</a:t>
            </a:r>
            <a:br>
              <a:rPr lang="en-IN" sz="2000"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GIZMO COP – An Intelligent Security Device for Women Safety with Machine Learning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developed an intelligent safety device using Machine Learning. The proposed system includes technologies such as GPS/GSM, panic-button functionality and physiological sensors. It demonstrates how wearable and intelligent devices can automatically assist women during emergency situations.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5. Farha Parveen et al. (2023)</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Analysis of Women Safety in Public Places Using Machine Learning on Tweets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applied Machine Learning to Twitter data to analyse women's safety in public places. The system uses social-media information to understand safety concerns and public experiences. This research is useful for developing data-driven safety analysis systems.</a:t>
            </a:r>
          </a:p>
          <a:p>
            <a:endParaRPr lang="en-IN" dirty="0"/>
          </a:p>
        </p:txBody>
      </p:sp>
    </p:spTree>
    <p:extLst>
      <p:ext uri="{BB962C8B-B14F-4D97-AF65-F5344CB8AC3E}">
        <p14:creationId xmlns:p14="http://schemas.microsoft.com/office/powerpoint/2010/main" val="1802552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53DDB-60C2-9C95-669C-2A1DE8CBE066}"/>
              </a:ext>
            </a:extLst>
          </p:cNvPr>
          <p:cNvSpPr txBox="1"/>
          <p:nvPr/>
        </p:nvSpPr>
        <p:spPr>
          <a:xfrm>
            <a:off x="324465" y="325801"/>
            <a:ext cx="9920748" cy="6247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6. Mohd Naved et al. (2022)</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Artificial Intelligence Based Women Security and Safety Measure System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proposed an AI-based security system for women's safety. Technologies such as GPS, GSM and intelligent monitoring can be used to identify emergencies and provide timely assistance. The research demonstrates the role of AI in improving traditional safety mechanisms.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7. Harshali Patil et al. (2023)</a:t>
            </a:r>
            <a:br>
              <a:rPr lang="en-IN" sz="2000" b="1"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Role of Information Technology in Strengthening Women’s Safety in India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researchers studied technologies including Artificial Intelligence, IoT, surveillance systems, mobile applications and cybersecurity. Their work shows that women's safety can be improved by integrating multiple technologies rather than depending on a single system.</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8. M. </a:t>
            </a:r>
            <a:r>
              <a:rPr lang="en-IN" sz="2000" b="1" dirty="0" err="1">
                <a:latin typeface="Times New Roman" panose="02020603050405020304" pitchFamily="18" charset="0"/>
                <a:cs typeface="Times New Roman" panose="02020603050405020304" pitchFamily="18" charset="0"/>
              </a:rPr>
              <a:t>Navaneethakrishnan</a:t>
            </a:r>
            <a:r>
              <a:rPr lang="en-IN" sz="2000" b="1" dirty="0">
                <a:latin typeface="Times New Roman" panose="02020603050405020304" pitchFamily="18" charset="0"/>
                <a:cs typeface="Times New Roman" panose="02020603050405020304" pitchFamily="18" charset="0"/>
              </a:rPr>
              <a:t> et al. (2023)</a:t>
            </a:r>
            <a:br>
              <a:rPr lang="en-IN" sz="2000" dirty="0">
                <a:latin typeface="Times New Roman" panose="02020603050405020304" pitchFamily="18" charset="0"/>
                <a:cs typeface="Times New Roman" panose="02020603050405020304" pitchFamily="18" charset="0"/>
              </a:rPr>
            </a:br>
            <a:r>
              <a:rPr lang="en-IN" sz="2000" i="1" dirty="0">
                <a:latin typeface="Times New Roman" panose="02020603050405020304" pitchFamily="18" charset="0"/>
                <a:cs typeface="Times New Roman" panose="02020603050405020304" pitchFamily="18" charset="0"/>
              </a:rPr>
              <a:t>Research: </a:t>
            </a:r>
            <a:r>
              <a:rPr lang="en-IN" sz="2000" i="1" dirty="0" err="1">
                <a:latin typeface="Times New Roman" panose="02020603050405020304" pitchFamily="18" charset="0"/>
                <a:cs typeface="Times New Roman" panose="02020603050405020304" pitchFamily="18" charset="0"/>
              </a:rPr>
              <a:t>WoExP</a:t>
            </a:r>
            <a:r>
              <a:rPr lang="en-IN" sz="2000" i="1" dirty="0">
                <a:latin typeface="Times New Roman" panose="02020603050405020304" pitchFamily="18" charset="0"/>
                <a:cs typeface="Times New Roman" panose="02020603050405020304" pitchFamily="18" charset="0"/>
              </a:rPr>
              <a:t> – Women Express: Artificial Intelligence Based Women Security and Safety System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They proposed an AI-based women's security platform designed to help women report problems and obtain assistance. The system connects technology with emergency support and communication, showing how AI can help create a more responsive safety ecosystem.</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08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87A8E9-9BED-009B-82D6-104440E10689}"/>
              </a:ext>
            </a:extLst>
          </p:cNvPr>
          <p:cNvSpPr txBox="1"/>
          <p:nvPr/>
        </p:nvSpPr>
        <p:spPr>
          <a:xfrm>
            <a:off x="334296" y="369838"/>
            <a:ext cx="9724104" cy="203132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8. Udipta Boro et al. (2024)</a:t>
            </a:r>
            <a:br>
              <a:rPr lang="en-IN" dirty="0"/>
            </a:br>
            <a:r>
              <a:rPr lang="en-IN" i="1" dirty="0">
                <a:latin typeface="Times New Roman" panose="02020603050405020304" pitchFamily="18" charset="0"/>
                <a:cs typeface="Times New Roman" panose="02020603050405020304" pitchFamily="18" charset="0"/>
              </a:rPr>
              <a:t>Research: Data-intensive Technology Systems for Women Safety: Lessons from Bengaluru’s AI-powered CCTV Network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researchers examined AI-powered CCTV surveillance in Bengaluru. Their work discusses how intelligent surveillance can contribute to women's safety while also highlighting concerns such as privacy, surveillance, bias and discrimination. This is particularly relevant to an AI-based CCTV project</a:t>
            </a:r>
            <a:r>
              <a:rPr lang="en-IN" dirty="0"/>
              <a:t>.</a:t>
            </a:r>
          </a:p>
        </p:txBody>
      </p:sp>
    </p:spTree>
    <p:extLst>
      <p:ext uri="{BB962C8B-B14F-4D97-AF65-F5344CB8AC3E}">
        <p14:creationId xmlns:p14="http://schemas.microsoft.com/office/powerpoint/2010/main" val="6045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B0F6D4-31D6-38EA-33D4-DA2B12E21675}"/>
              </a:ext>
            </a:extLst>
          </p:cNvPr>
          <p:cNvSpPr txBox="1"/>
          <p:nvPr/>
        </p:nvSpPr>
        <p:spPr>
          <a:xfrm>
            <a:off x="3274142"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7" name="TextBox 6">
            <a:extLst>
              <a:ext uri="{FF2B5EF4-FFF2-40B4-BE49-F238E27FC236}">
                <a16:creationId xmlns:a16="http://schemas.microsoft.com/office/drawing/2014/main" id="{7727D33F-463A-B844-7B83-A1C633423ED2}"/>
              </a:ext>
            </a:extLst>
          </p:cNvPr>
          <p:cNvSpPr txBox="1"/>
          <p:nvPr/>
        </p:nvSpPr>
        <p:spPr>
          <a:xfrm>
            <a:off x="698090" y="1193881"/>
            <a:ext cx="8672051" cy="2923877"/>
          </a:xfrm>
          <a:prstGeom prst="rect">
            <a:avLst/>
          </a:prstGeom>
          <a:noFill/>
        </p:spPr>
        <p:txBody>
          <a:bodyPr wrap="square">
            <a:spAutoFit/>
          </a:bodyPr>
          <a:lstStyle/>
          <a:p>
            <a:pPr lvl="0"/>
            <a:r>
              <a:rPr lang="en-IN" sz="2000" dirty="0"/>
              <a:t>• </a:t>
            </a:r>
            <a:r>
              <a:rPr lang="en-IN" sz="2300" dirty="0">
                <a:latin typeface="Times New Roman" panose="02020603050405020304" pitchFamily="18" charset="0"/>
                <a:cs typeface="Times New Roman" panose="02020603050405020304" pitchFamily="18" charset="0"/>
              </a:rPr>
              <a:t>Collect relevant social-media data related to women’s safety.</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Clean and preprocess the collected text.</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Analyze</a:t>
            </a:r>
            <a:r>
              <a:rPr lang="en-IN" sz="2300" dirty="0">
                <a:latin typeface="Times New Roman" panose="02020603050405020304" pitchFamily="18" charset="0"/>
                <a:cs typeface="Times New Roman" panose="02020603050405020304" pitchFamily="18" charset="0"/>
              </a:rPr>
              <a:t> the sentiment of the posts using NLP techniques.</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Classify posts based on the type of safety-related incident.</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Study patterns based on time and available location information.</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Present the </a:t>
            </a:r>
            <a:r>
              <a:rPr lang="en-IN" sz="2300" dirty="0" err="1">
                <a:latin typeface="Times New Roman" panose="02020603050405020304" pitchFamily="18" charset="0"/>
                <a:cs typeface="Times New Roman" panose="02020603050405020304" pitchFamily="18" charset="0"/>
              </a:rPr>
              <a:t>analyzed</a:t>
            </a:r>
            <a:r>
              <a:rPr lang="en-IN" sz="2300" dirty="0">
                <a:latin typeface="Times New Roman" panose="02020603050405020304" pitchFamily="18" charset="0"/>
                <a:cs typeface="Times New Roman" panose="02020603050405020304" pitchFamily="18" charset="0"/>
              </a:rPr>
              <a:t> information through a simple dashboard.</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Explore potential risk-zone visualization based on available data.</a:t>
            </a:r>
            <a:br>
              <a:rPr lang="en-IN" sz="2300" dirty="0">
                <a:latin typeface="Times New Roman" panose="02020603050405020304" pitchFamily="18" charset="0"/>
                <a:cs typeface="Times New Roman" panose="02020603050405020304" pitchFamily="18" charset="0"/>
              </a:rPr>
            </a:br>
            <a:r>
              <a:rPr lang="en-IN" sz="2300" dirty="0">
                <a:latin typeface="Times New Roman" panose="02020603050405020304" pitchFamily="18" charset="0"/>
                <a:cs typeface="Times New Roman" panose="02020603050405020304" pitchFamily="18" charset="0"/>
              </a:rPr>
              <a:t>• Study the possibility of adding an IoT-based SOS wearable.</a:t>
            </a:r>
          </a:p>
        </p:txBody>
      </p:sp>
      <p:sp>
        <p:nvSpPr>
          <p:cNvPr id="4" name="TextBox 3">
            <a:extLst>
              <a:ext uri="{FF2B5EF4-FFF2-40B4-BE49-F238E27FC236}">
                <a16:creationId xmlns:a16="http://schemas.microsoft.com/office/drawing/2014/main" id="{2CA8C1DD-F97A-C66C-EDD7-4CB0E19777DB}"/>
              </a:ext>
            </a:extLst>
          </p:cNvPr>
          <p:cNvSpPr txBox="1"/>
          <p:nvPr/>
        </p:nvSpPr>
        <p:spPr>
          <a:xfrm>
            <a:off x="408039" y="166843"/>
            <a:ext cx="6096000" cy="477054"/>
          </a:xfrm>
          <a:prstGeom prst="rect">
            <a:avLst/>
          </a:prstGeom>
          <a:noFill/>
        </p:spPr>
        <p:txBody>
          <a:bodyPr wrap="square">
            <a:spAutoFit/>
          </a:bodyPr>
          <a:lstStyle/>
          <a:p>
            <a:r>
              <a:rPr lang="en-IN" sz="2500" b="1" dirty="0">
                <a:solidFill>
                  <a:schemeClr val="accent1"/>
                </a:solidFill>
                <a:latin typeface="Times New Roman" panose="02020603050405020304" pitchFamily="18" charset="0"/>
                <a:cs typeface="Times New Roman" panose="02020603050405020304" pitchFamily="18" charset="0"/>
              </a:rPr>
              <a:t>PROPOSED IDEA</a:t>
            </a:r>
          </a:p>
        </p:txBody>
      </p:sp>
    </p:spTree>
    <p:extLst>
      <p:ext uri="{BB962C8B-B14F-4D97-AF65-F5344CB8AC3E}">
        <p14:creationId xmlns:p14="http://schemas.microsoft.com/office/powerpoint/2010/main" val="1414042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DDFEF5-3DB7-C616-B42C-9A15429EE7D5}"/>
              </a:ext>
            </a:extLst>
          </p:cNvPr>
          <p:cNvSpPr txBox="1"/>
          <p:nvPr/>
        </p:nvSpPr>
        <p:spPr>
          <a:xfrm>
            <a:off x="294968" y="208624"/>
            <a:ext cx="6096000" cy="492443"/>
          </a:xfrm>
          <a:prstGeom prst="rect">
            <a:avLst/>
          </a:prstGeom>
          <a:noFill/>
        </p:spPr>
        <p:txBody>
          <a:bodyPr wrap="square">
            <a:spAutoFit/>
          </a:bodyPr>
          <a:lstStyle/>
          <a:p>
            <a:r>
              <a:rPr lang="en-IN" sz="2600" b="1" dirty="0">
                <a:solidFill>
                  <a:schemeClr val="accent1"/>
                </a:solidFill>
                <a:latin typeface="Times New Roman" panose="02020603050405020304" pitchFamily="18" charset="0"/>
                <a:cs typeface="Times New Roman" panose="02020603050405020304" pitchFamily="18" charset="0"/>
              </a:rPr>
              <a:t>PROPOSED DASHBOARD PROCESS</a:t>
            </a:r>
          </a:p>
        </p:txBody>
      </p:sp>
      <p:sp>
        <p:nvSpPr>
          <p:cNvPr id="9" name="TextBox 8">
            <a:extLst>
              <a:ext uri="{FF2B5EF4-FFF2-40B4-BE49-F238E27FC236}">
                <a16:creationId xmlns:a16="http://schemas.microsoft.com/office/drawing/2014/main" id="{4EAA24E3-AF11-DDD5-2FAF-D46B8DF850C1}"/>
              </a:ext>
            </a:extLst>
          </p:cNvPr>
          <p:cNvSpPr txBox="1"/>
          <p:nvPr/>
        </p:nvSpPr>
        <p:spPr>
          <a:xfrm>
            <a:off x="975852" y="701067"/>
            <a:ext cx="10805651" cy="5632311"/>
          </a:xfrm>
          <a:prstGeom prst="rect">
            <a:avLst/>
          </a:prstGeom>
          <a:solidFill>
            <a:schemeClr val="bg2"/>
          </a:solidFill>
          <a:ln>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buNone/>
            </a:pPr>
            <a:r>
              <a:rPr lang="en-IN" b="1" dirty="0">
                <a:latin typeface="Lucida Bright" panose="02040602050505020304" pitchFamily="18" charset="0"/>
              </a:rPr>
              <a:t>DATA</a:t>
            </a:r>
            <a:br>
              <a:rPr lang="en-IN" dirty="0"/>
            </a:br>
            <a:r>
              <a:rPr lang="en-IN" dirty="0">
                <a:latin typeface="Times New Roman" panose="02020603050405020304" pitchFamily="18" charset="0"/>
                <a:cs typeface="Times New Roman" panose="02020603050405020304" pitchFamily="18" charset="0"/>
              </a:rPr>
              <a:t>Collection of relevant social-media posts or a suitable dataset related to women’s safety.</a:t>
            </a:r>
          </a:p>
          <a:p>
            <a:pPr>
              <a:buNone/>
            </a:pP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t>
            </a:r>
          </a:p>
          <a:p>
            <a:pPr>
              <a:buNone/>
            </a:pPr>
            <a:r>
              <a:rPr lang="en-IN" b="1" dirty="0">
                <a:latin typeface="Lucida Bright" panose="02040602050505020304" pitchFamily="18" charset="0"/>
                <a:cs typeface="Times New Roman" panose="02020603050405020304" pitchFamily="18" charset="0"/>
              </a:rPr>
              <a:t>DATA CLEANING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Remove unwanted characters, duplicate posts, links and unnecessary information from the data.</a:t>
            </a:r>
          </a:p>
          <a:p>
            <a:pPr>
              <a:buNone/>
            </a:pP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t>
            </a:r>
          </a:p>
          <a:p>
            <a:pPr>
              <a:buNone/>
            </a:pPr>
            <a:r>
              <a:rPr lang="en-IN" b="1" dirty="0">
                <a:latin typeface="Lucida Bright" panose="02040602050505020304" pitchFamily="18" charset="0"/>
                <a:cs typeface="Times New Roman" panose="02020603050405020304" pitchFamily="18" charset="0"/>
              </a:rPr>
              <a:t>NLP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Process the text using Natural Language Processing techniques to understand the content.</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SENTIMENT &amp; INCIDENT CLASSIFICATION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Identify the sentiment and classify posts according to the type of safety-related incident.</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TREND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Study the frequency and changes in safety-related posts over different time periods.</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LOCATION ANALYSIS</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available location information to identify areas with repeated safety-related reports.</a:t>
            </a:r>
          </a:p>
          <a:p>
            <a:pPr>
              <a:buNone/>
            </a:pPr>
            <a:r>
              <a:rPr lang="en-IN" dirty="0">
                <a:latin typeface="Times New Roman" panose="02020603050405020304" pitchFamily="18" charset="0"/>
                <a:cs typeface="Times New Roman" panose="02020603050405020304" pitchFamily="18" charset="0"/>
              </a:rPr>
              <a:t>         ↓</a:t>
            </a:r>
          </a:p>
          <a:p>
            <a:pPr>
              <a:buNone/>
            </a:pPr>
            <a:r>
              <a:rPr lang="en-IN" b="1" dirty="0">
                <a:latin typeface="Lucida Bright" panose="02040602050505020304" pitchFamily="18" charset="0"/>
                <a:cs typeface="Times New Roman" panose="02020603050405020304" pitchFamily="18" charset="0"/>
              </a:rPr>
              <a:t>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Present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information using charts, filters, trends and a map for easy understanding</a:t>
            </a:r>
            <a:r>
              <a:rPr lang="en-IN" dirty="0"/>
              <a:t>.</a:t>
            </a:r>
          </a:p>
        </p:txBody>
      </p:sp>
      <p:sp>
        <p:nvSpPr>
          <p:cNvPr id="14" name="TextBox 13">
            <a:extLst>
              <a:ext uri="{FF2B5EF4-FFF2-40B4-BE49-F238E27FC236}">
                <a16:creationId xmlns:a16="http://schemas.microsoft.com/office/drawing/2014/main" id="{04EA64A3-2585-DDE4-12C7-FB2460F69701}"/>
              </a:ext>
            </a:extLst>
          </p:cNvPr>
          <p:cNvSpPr txBox="1"/>
          <p:nvPr/>
        </p:nvSpPr>
        <p:spPr>
          <a:xfrm>
            <a:off x="3048000"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Tree>
    <p:extLst>
      <p:ext uri="{BB962C8B-B14F-4D97-AF65-F5344CB8AC3E}">
        <p14:creationId xmlns:p14="http://schemas.microsoft.com/office/powerpoint/2010/main" val="3456078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624FCB-5E4B-1576-C12C-584945FF0519}"/>
              </a:ext>
            </a:extLst>
          </p:cNvPr>
          <p:cNvSpPr txBox="1"/>
          <p:nvPr/>
        </p:nvSpPr>
        <p:spPr>
          <a:xfrm>
            <a:off x="196645" y="235974"/>
            <a:ext cx="6096000" cy="415498"/>
          </a:xfrm>
          <a:prstGeom prst="rect">
            <a:avLst/>
          </a:prstGeom>
          <a:noFill/>
        </p:spPr>
        <p:txBody>
          <a:bodyPr wrap="square">
            <a:spAutoFit/>
          </a:bodyPr>
          <a:lstStyle/>
          <a:p>
            <a:r>
              <a:rPr lang="en-IN" sz="2100" b="1" dirty="0">
                <a:solidFill>
                  <a:srgbClr val="0070C0"/>
                </a:solidFill>
                <a:latin typeface="Lucida Bright" panose="02040602050505020304" pitchFamily="18" charset="0"/>
              </a:rPr>
              <a:t>Project Cost Estimation (Hard Ware)</a:t>
            </a:r>
          </a:p>
        </p:txBody>
      </p:sp>
      <p:sp>
        <p:nvSpPr>
          <p:cNvPr id="5" name="TextBox 4">
            <a:extLst>
              <a:ext uri="{FF2B5EF4-FFF2-40B4-BE49-F238E27FC236}">
                <a16:creationId xmlns:a16="http://schemas.microsoft.com/office/drawing/2014/main" id="{AF42C48D-3171-96F8-2E9E-58703D8CD746}"/>
              </a:ext>
            </a:extLst>
          </p:cNvPr>
          <p:cNvSpPr txBox="1"/>
          <p:nvPr/>
        </p:nvSpPr>
        <p:spPr>
          <a:xfrm>
            <a:off x="786580" y="836699"/>
            <a:ext cx="8672052" cy="2862322"/>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project is designed to be cost-effective for a final-year </a:t>
            </a:r>
            <a:r>
              <a:rPr lang="en-IN" dirty="0" err="1">
                <a:latin typeface="Times New Roman" panose="02020603050405020304" pitchFamily="18" charset="0"/>
                <a:cs typeface="Times New Roman" panose="02020603050405020304" pitchFamily="18" charset="0"/>
              </a:rPr>
              <a:t>B.Tech</a:t>
            </a:r>
            <a:r>
              <a:rPr lang="en-IN" dirty="0">
                <a:latin typeface="Times New Roman" panose="02020603050405020304" pitchFamily="18" charset="0"/>
                <a:cs typeface="Times New Roman" panose="02020603050405020304" pitchFamily="18" charset="0"/>
              </a:rPr>
              <a:t>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of the software tools used in the project are free and open-source.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main expense is for the IoT-based wearable safety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hardware includes ESP32, GPS module, SOS button, buzzer, battery and basic components.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estimated hardware cost is approximately </a:t>
            </a:r>
            <a:r>
              <a:rPr lang="en-IN" b="1" dirty="0">
                <a:latin typeface="Times New Roman" panose="02020603050405020304" pitchFamily="18" charset="0"/>
                <a:cs typeface="Times New Roman" panose="02020603050405020304" pitchFamily="18" charset="0"/>
              </a:rPr>
              <a:t>₹1,900</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Depending on additional components, the total cost may range between </a:t>
            </a:r>
            <a:r>
              <a:rPr lang="en-IN" b="1" dirty="0">
                <a:latin typeface="Times New Roman" panose="02020603050405020304" pitchFamily="18" charset="0"/>
                <a:cs typeface="Times New Roman" panose="02020603050405020304" pitchFamily="18" charset="0"/>
              </a:rPr>
              <a:t>₹1,900 and ₹2,500</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major software licensing cost is expected during development.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Estimated overall project budget: ₹1,900–₹2,500.</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A2DE980-3D57-BDD8-C47B-0FD922ED5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47476" y="3528910"/>
            <a:ext cx="1995731" cy="2229161"/>
          </a:xfrm>
          <a:prstGeom prst="rect">
            <a:avLst/>
          </a:prstGeom>
        </p:spPr>
      </p:pic>
      <p:pic>
        <p:nvPicPr>
          <p:cNvPr id="9" name="Picture 8">
            <a:extLst>
              <a:ext uri="{FF2B5EF4-FFF2-40B4-BE49-F238E27FC236}">
                <a16:creationId xmlns:a16="http://schemas.microsoft.com/office/drawing/2014/main" id="{FF51E24A-DB63-1C95-1EE1-64F3BA47FC0D}"/>
              </a:ext>
            </a:extLst>
          </p:cNvPr>
          <p:cNvPicPr>
            <a:picLocks noChangeAspect="1"/>
          </p:cNvPicPr>
          <p:nvPr/>
        </p:nvPicPr>
        <p:blipFill>
          <a:blip r:embed="rId3"/>
          <a:stretch>
            <a:fillRect/>
          </a:stretch>
        </p:blipFill>
        <p:spPr>
          <a:xfrm>
            <a:off x="3133186" y="3677938"/>
            <a:ext cx="2720311" cy="1995732"/>
          </a:xfrm>
          <a:prstGeom prst="rect">
            <a:avLst/>
          </a:prstGeom>
        </p:spPr>
      </p:pic>
      <p:sp>
        <p:nvSpPr>
          <p:cNvPr id="10" name="Rectangle: Rounded Corners 9">
            <a:extLst>
              <a:ext uri="{FF2B5EF4-FFF2-40B4-BE49-F238E27FC236}">
                <a16:creationId xmlns:a16="http://schemas.microsoft.com/office/drawing/2014/main" id="{DF62361B-141B-C590-9732-AFAF3B05D041}"/>
              </a:ext>
            </a:extLst>
          </p:cNvPr>
          <p:cNvSpPr/>
          <p:nvPr/>
        </p:nvSpPr>
        <p:spPr>
          <a:xfrm>
            <a:off x="196645" y="5638574"/>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ESP-32 Development Board</a:t>
            </a:r>
          </a:p>
          <a:p>
            <a:pPr algn="ctr"/>
            <a:r>
              <a:rPr lang="en-IN" dirty="0"/>
              <a:t>COST : ₹500</a:t>
            </a:r>
          </a:p>
        </p:txBody>
      </p:sp>
      <p:sp>
        <p:nvSpPr>
          <p:cNvPr id="12" name="Rectangle: Rounded Corners 11">
            <a:extLst>
              <a:ext uri="{FF2B5EF4-FFF2-40B4-BE49-F238E27FC236}">
                <a16:creationId xmlns:a16="http://schemas.microsoft.com/office/drawing/2014/main" id="{1FCC8CC5-E897-D51F-9FD4-667E0EDBAEA2}"/>
              </a:ext>
            </a:extLst>
          </p:cNvPr>
          <p:cNvSpPr/>
          <p:nvPr/>
        </p:nvSpPr>
        <p:spPr>
          <a:xfrm>
            <a:off x="3356103" y="5673670"/>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GPS Module (NEO-6M)</a:t>
            </a:r>
          </a:p>
          <a:p>
            <a:pPr algn="ctr"/>
            <a:r>
              <a:rPr lang="en-IN" dirty="0"/>
              <a:t>COST : ₹600</a:t>
            </a:r>
          </a:p>
        </p:txBody>
      </p:sp>
      <p:pic>
        <p:nvPicPr>
          <p:cNvPr id="14" name="Picture 13">
            <a:extLst>
              <a:ext uri="{FF2B5EF4-FFF2-40B4-BE49-F238E27FC236}">
                <a16:creationId xmlns:a16="http://schemas.microsoft.com/office/drawing/2014/main" id="{A760C07D-DC10-C26B-C464-6571587B92DC}"/>
              </a:ext>
            </a:extLst>
          </p:cNvPr>
          <p:cNvPicPr>
            <a:picLocks noChangeAspect="1"/>
          </p:cNvPicPr>
          <p:nvPr/>
        </p:nvPicPr>
        <p:blipFill>
          <a:blip r:embed="rId4"/>
          <a:stretch>
            <a:fillRect/>
          </a:stretch>
        </p:blipFill>
        <p:spPr>
          <a:xfrm>
            <a:off x="6600826" y="3904730"/>
            <a:ext cx="1971776" cy="1542148"/>
          </a:xfrm>
          <a:prstGeom prst="rect">
            <a:avLst/>
          </a:prstGeom>
        </p:spPr>
      </p:pic>
      <p:sp>
        <p:nvSpPr>
          <p:cNvPr id="20" name="Rectangle: Rounded Corners 19">
            <a:extLst>
              <a:ext uri="{FF2B5EF4-FFF2-40B4-BE49-F238E27FC236}">
                <a16:creationId xmlns:a16="http://schemas.microsoft.com/office/drawing/2014/main" id="{114C31D1-65A8-61F1-BDCD-A14C9453932A}"/>
              </a:ext>
            </a:extLst>
          </p:cNvPr>
          <p:cNvSpPr/>
          <p:nvPr/>
        </p:nvSpPr>
        <p:spPr>
          <a:xfrm>
            <a:off x="6600826" y="5578849"/>
            <a:ext cx="2266335"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BUZZER COST : ₹60</a:t>
            </a:r>
          </a:p>
        </p:txBody>
      </p:sp>
      <p:sp>
        <p:nvSpPr>
          <p:cNvPr id="27" name="TextBox 26">
            <a:extLst>
              <a:ext uri="{FF2B5EF4-FFF2-40B4-BE49-F238E27FC236}">
                <a16:creationId xmlns:a16="http://schemas.microsoft.com/office/drawing/2014/main" id="{1776BA0A-45E9-C700-1C9E-D783FFE13B1A}"/>
              </a:ext>
            </a:extLst>
          </p:cNvPr>
          <p:cNvSpPr txBox="1"/>
          <p:nvPr/>
        </p:nvSpPr>
        <p:spPr>
          <a:xfrm>
            <a:off x="3244645" y="6595723"/>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pic>
        <p:nvPicPr>
          <p:cNvPr id="4" name="Picture 3">
            <a:extLst>
              <a:ext uri="{FF2B5EF4-FFF2-40B4-BE49-F238E27FC236}">
                <a16:creationId xmlns:a16="http://schemas.microsoft.com/office/drawing/2014/main" id="{C3496091-989C-4C4A-B6DD-CABDF7DBE027}"/>
              </a:ext>
            </a:extLst>
          </p:cNvPr>
          <p:cNvPicPr>
            <a:picLocks noChangeAspect="1"/>
          </p:cNvPicPr>
          <p:nvPr/>
        </p:nvPicPr>
        <p:blipFill>
          <a:blip r:embed="rId5"/>
          <a:stretch>
            <a:fillRect/>
          </a:stretch>
        </p:blipFill>
        <p:spPr>
          <a:xfrm>
            <a:off x="9176258" y="3645625"/>
            <a:ext cx="2229162" cy="1740578"/>
          </a:xfrm>
          <a:prstGeom prst="rect">
            <a:avLst/>
          </a:prstGeom>
        </p:spPr>
      </p:pic>
      <p:sp>
        <p:nvSpPr>
          <p:cNvPr id="16" name="Rectangle: Rounded Corners 15">
            <a:extLst>
              <a:ext uri="{FF2B5EF4-FFF2-40B4-BE49-F238E27FC236}">
                <a16:creationId xmlns:a16="http://schemas.microsoft.com/office/drawing/2014/main" id="{9F945DA8-959F-B799-2CA5-FC9324F980A5}"/>
              </a:ext>
            </a:extLst>
          </p:cNvPr>
          <p:cNvSpPr/>
          <p:nvPr/>
        </p:nvSpPr>
        <p:spPr>
          <a:xfrm>
            <a:off x="9176258" y="5638574"/>
            <a:ext cx="2497394"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SOS BUTTON</a:t>
            </a:r>
          </a:p>
          <a:p>
            <a:pPr algn="ctr"/>
            <a:r>
              <a:rPr lang="en-IN" dirty="0"/>
              <a:t>COST : ₹250</a:t>
            </a:r>
          </a:p>
        </p:txBody>
      </p:sp>
      <p:pic>
        <p:nvPicPr>
          <p:cNvPr id="18" name="Picture 17">
            <a:extLst>
              <a:ext uri="{FF2B5EF4-FFF2-40B4-BE49-F238E27FC236}">
                <a16:creationId xmlns:a16="http://schemas.microsoft.com/office/drawing/2014/main" id="{DD55A570-C791-E8C8-1DE9-91574CF61CD3}"/>
              </a:ext>
            </a:extLst>
          </p:cNvPr>
          <p:cNvPicPr>
            <a:picLocks noChangeAspect="1"/>
          </p:cNvPicPr>
          <p:nvPr/>
        </p:nvPicPr>
        <p:blipFill>
          <a:blip r:embed="rId6"/>
          <a:stretch>
            <a:fillRect/>
          </a:stretch>
        </p:blipFill>
        <p:spPr>
          <a:xfrm>
            <a:off x="9485562" y="105383"/>
            <a:ext cx="2706438" cy="2162477"/>
          </a:xfrm>
          <a:prstGeom prst="rect">
            <a:avLst/>
          </a:prstGeom>
        </p:spPr>
      </p:pic>
      <p:sp>
        <p:nvSpPr>
          <p:cNvPr id="21" name="Rectangle: Rounded Corners 20">
            <a:extLst>
              <a:ext uri="{FF2B5EF4-FFF2-40B4-BE49-F238E27FC236}">
                <a16:creationId xmlns:a16="http://schemas.microsoft.com/office/drawing/2014/main" id="{A7BF93BE-B41B-25F0-814A-9FEFD0947945}"/>
              </a:ext>
            </a:extLst>
          </p:cNvPr>
          <p:cNvSpPr/>
          <p:nvPr/>
        </p:nvSpPr>
        <p:spPr>
          <a:xfrm>
            <a:off x="9801226" y="2267860"/>
            <a:ext cx="2266335" cy="884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WIRE KIT COST: ₹300</a:t>
            </a:r>
          </a:p>
        </p:txBody>
      </p:sp>
    </p:spTree>
    <p:extLst>
      <p:ext uri="{BB962C8B-B14F-4D97-AF65-F5344CB8AC3E}">
        <p14:creationId xmlns:p14="http://schemas.microsoft.com/office/powerpoint/2010/main" val="53952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E68E26-F4DD-351B-8297-30F0E68D477B}"/>
              </a:ext>
            </a:extLst>
          </p:cNvPr>
          <p:cNvSpPr txBox="1"/>
          <p:nvPr/>
        </p:nvSpPr>
        <p:spPr>
          <a:xfrm>
            <a:off x="147484" y="167148"/>
            <a:ext cx="5034116" cy="477054"/>
          </a:xfrm>
          <a:prstGeom prst="rect">
            <a:avLst/>
          </a:prstGeom>
          <a:noFill/>
        </p:spPr>
        <p:txBody>
          <a:bodyPr wrap="square" rtlCol="0">
            <a:spAutoFit/>
          </a:bodyPr>
          <a:lstStyle/>
          <a:p>
            <a:r>
              <a:rPr lang="en-IN" sz="2500" b="1" dirty="0">
                <a:solidFill>
                  <a:schemeClr val="accent1"/>
                </a:solidFill>
                <a:latin typeface="Times New Roman" panose="02020603050405020304" pitchFamily="18" charset="0"/>
                <a:cs typeface="Times New Roman" panose="02020603050405020304" pitchFamily="18" charset="0"/>
              </a:rPr>
              <a:t>Software  Program Used</a:t>
            </a:r>
          </a:p>
        </p:txBody>
      </p:sp>
      <p:sp>
        <p:nvSpPr>
          <p:cNvPr id="4" name="TextBox 3">
            <a:extLst>
              <a:ext uri="{FF2B5EF4-FFF2-40B4-BE49-F238E27FC236}">
                <a16:creationId xmlns:a16="http://schemas.microsoft.com/office/drawing/2014/main" id="{5BF02238-4C5A-DB18-0039-C0CBC0635AB6}"/>
              </a:ext>
            </a:extLst>
          </p:cNvPr>
          <p:cNvSpPr txBox="1"/>
          <p:nvPr/>
        </p:nvSpPr>
        <p:spPr>
          <a:xfrm>
            <a:off x="452284" y="914400"/>
            <a:ext cx="8436077" cy="1785104"/>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 React.js, HTML5, CSS3, JavaScript, Chart.js, Leaflet.js</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Python, </a:t>
            </a:r>
            <a:r>
              <a:rPr lang="en-IN" sz="2200"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/Flask, REST API</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Database:</a:t>
            </a:r>
            <a:r>
              <a:rPr lang="en-IN" sz="2200" dirty="0">
                <a:latin typeface="Times New Roman" panose="02020603050405020304" pitchFamily="18" charset="0"/>
                <a:cs typeface="Times New Roman" panose="02020603050405020304" pitchFamily="18" charset="0"/>
              </a:rPr>
              <a:t> MySQL</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AI/NLP:</a:t>
            </a:r>
            <a:r>
              <a:rPr lang="en-IN" sz="2200" dirty="0">
                <a:latin typeface="Times New Roman" panose="02020603050405020304" pitchFamily="18" charset="0"/>
                <a:cs typeface="Times New Roman" panose="02020603050405020304" pitchFamily="18" charset="0"/>
              </a:rPr>
              <a:t> NLTK, VADER, Pandas, Scikit-learn, TF-IDF</a:t>
            </a:r>
            <a:br>
              <a:rPr lang="en-IN" sz="22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Development:</a:t>
            </a:r>
            <a:r>
              <a:rPr lang="en-IN" sz="2200" dirty="0">
                <a:latin typeface="Times New Roman" panose="02020603050405020304" pitchFamily="18" charset="0"/>
                <a:cs typeface="Times New Roman" panose="02020603050405020304" pitchFamily="18" charset="0"/>
              </a:rPr>
              <a:t> VS Code, Git, GitHub, Postman</a:t>
            </a:r>
          </a:p>
        </p:txBody>
      </p:sp>
      <p:pic>
        <p:nvPicPr>
          <p:cNvPr id="6" name="Picture 5" descr="https://images.openai.com/static-rsc-4/87aQ_aImVV-zZv7ShBJywA6ry0i0yd-dohJW9EWcA5a2nBM4HrD5VNEnO6UzdmAJ5rr-A9uJQtfD_DsABWJ-cGks-RTVvNLF2-aOlrqP3pOcKQzI3s4JIQm5dKBe7g18jpz4M1Oevw0mXBfeCr6s6LRq1C8RJsQgxqNXKId2f4Z6pzNMIZL73SvXrygKFPSD?purpose=fullsize">
            <a:extLst>
              <a:ext uri="{FF2B5EF4-FFF2-40B4-BE49-F238E27FC236}">
                <a16:creationId xmlns:a16="http://schemas.microsoft.com/office/drawing/2014/main" id="{F672732E-654C-D5E1-91D3-9466BFC8447C}"/>
              </a:ext>
            </a:extLst>
          </p:cNvPr>
          <p:cNvPicPr>
            <a:picLocks noChangeAspect="1"/>
          </p:cNvPicPr>
          <p:nvPr/>
        </p:nvPicPr>
        <p:blipFill>
          <a:blip r:embed="rId2"/>
          <a:stretch>
            <a:fillRect/>
          </a:stretch>
        </p:blipFill>
        <p:spPr>
          <a:xfrm>
            <a:off x="4230328" y="3754872"/>
            <a:ext cx="2750575" cy="2329885"/>
          </a:xfrm>
          <a:prstGeom prst="rect">
            <a:avLst/>
          </a:prstGeom>
        </p:spPr>
      </p:pic>
      <p:pic>
        <p:nvPicPr>
          <p:cNvPr id="7" name="Picture 6" descr="https://images.openai.com/static-rsc-4/eyYXA-ptCDa-sqRy11Nxo5_aSEU3aHERz4F0xaFbNMhkL6V94LMH7SOSfrIw2HA17TsNDovlbTR6bm7D-6VtCS2-IkbJJ7x80Zxhms2R9lRzaVzIAlGSzAIeAK6RqmEtUH7yeMi9I7mZlSqNMSCQwM-5T91tKY7xALI_B7_ypYGuzAsfdGST-gpz9CbQaC1p?purpose=fullsize">
            <a:extLst>
              <a:ext uri="{FF2B5EF4-FFF2-40B4-BE49-F238E27FC236}">
                <a16:creationId xmlns:a16="http://schemas.microsoft.com/office/drawing/2014/main" id="{963595D7-E20A-B21F-CE21-8A765A0B79E1}"/>
              </a:ext>
            </a:extLst>
          </p:cNvPr>
          <p:cNvPicPr>
            <a:picLocks noChangeAspect="1"/>
          </p:cNvPicPr>
          <p:nvPr/>
        </p:nvPicPr>
        <p:blipFill>
          <a:blip r:embed="rId3"/>
          <a:stretch>
            <a:fillRect/>
          </a:stretch>
        </p:blipFill>
        <p:spPr>
          <a:xfrm>
            <a:off x="602534" y="3114916"/>
            <a:ext cx="2991464" cy="3256255"/>
          </a:xfrm>
          <a:prstGeom prst="rect">
            <a:avLst/>
          </a:prstGeom>
        </p:spPr>
      </p:pic>
      <p:pic>
        <p:nvPicPr>
          <p:cNvPr id="8" name="Picture 7" descr="https://images.openai.com/static-rsc-4/J0bqefK6Jcn88hoJJy4rYn5uYHTYutVLu4eiMpaPZmhIAOCo_hcJ-K9pw3YWK0JVq32ifmTfeBUclvo3QpDdFhn8fPUxcWUtWfEyrRvpbhE4IZ1WjxkyBXOfdrBwuhmiv_TcIQYceBgrbsXxtbmPHxJqVSoWNjYZ3IvSCvTSWX90YDYkLT5y901vPG6Ce6xx?purpose=fullsize">
            <a:extLst>
              <a:ext uri="{FF2B5EF4-FFF2-40B4-BE49-F238E27FC236}">
                <a16:creationId xmlns:a16="http://schemas.microsoft.com/office/drawing/2014/main" id="{B5067C51-342E-B530-396D-FF2E68D24FE2}"/>
              </a:ext>
            </a:extLst>
          </p:cNvPr>
          <p:cNvPicPr>
            <a:picLocks noChangeAspect="1"/>
          </p:cNvPicPr>
          <p:nvPr/>
        </p:nvPicPr>
        <p:blipFill>
          <a:blip r:embed="rId4"/>
          <a:stretch>
            <a:fillRect/>
          </a:stretch>
        </p:blipFill>
        <p:spPr>
          <a:xfrm>
            <a:off x="7511844" y="3792793"/>
            <a:ext cx="4077622" cy="2254045"/>
          </a:xfrm>
          <a:prstGeom prst="rect">
            <a:avLst/>
          </a:prstGeom>
        </p:spPr>
      </p:pic>
      <p:pic>
        <p:nvPicPr>
          <p:cNvPr id="9" name="Picture 8" descr="https://images.openai.com/static-rsc-4/zuQgzvxQlLz6QucSfhdOVSyxXbhDalnTC5Pob6E1SAHQ4gZYLzXA1wD-RRVQzWOHAFc76b9AN-sGJoLdbphFS_IDQunudjTfIFyWlWQ2xWXo45X7lHx2--UT-Www6_a1YeJdYpd5wv8izPj-YUf6AnVhmKkKZzoT9ZZpMxvKV-6WeaUM88jUwnGDlkd5-GGe?purpose=fullsize">
            <a:extLst>
              <a:ext uri="{FF2B5EF4-FFF2-40B4-BE49-F238E27FC236}">
                <a16:creationId xmlns:a16="http://schemas.microsoft.com/office/drawing/2014/main" id="{9049134E-9473-E476-8A01-2FBE38500C4E}"/>
              </a:ext>
            </a:extLst>
          </p:cNvPr>
          <p:cNvPicPr>
            <a:picLocks noChangeAspect="1"/>
          </p:cNvPicPr>
          <p:nvPr/>
        </p:nvPicPr>
        <p:blipFill>
          <a:blip r:embed="rId5"/>
          <a:stretch>
            <a:fillRect/>
          </a:stretch>
        </p:blipFill>
        <p:spPr>
          <a:xfrm>
            <a:off x="9094839" y="914400"/>
            <a:ext cx="1907458" cy="1369692"/>
          </a:xfrm>
          <a:prstGeom prst="rect">
            <a:avLst/>
          </a:prstGeom>
        </p:spPr>
      </p:pic>
    </p:spTree>
    <p:extLst>
      <p:ext uri="{BB962C8B-B14F-4D97-AF65-F5344CB8AC3E}">
        <p14:creationId xmlns:p14="http://schemas.microsoft.com/office/powerpoint/2010/main" val="3385961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FFF22-B3B9-90ED-3DA4-8B26CABF9FBE}"/>
              </a:ext>
            </a:extLst>
          </p:cNvPr>
          <p:cNvSpPr txBox="1"/>
          <p:nvPr/>
        </p:nvSpPr>
        <p:spPr>
          <a:xfrm>
            <a:off x="3156155"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5" name="TextBox 4">
            <a:extLst>
              <a:ext uri="{FF2B5EF4-FFF2-40B4-BE49-F238E27FC236}">
                <a16:creationId xmlns:a16="http://schemas.microsoft.com/office/drawing/2014/main" id="{A4724C24-5259-AC59-408D-C91F6710C363}"/>
              </a:ext>
            </a:extLst>
          </p:cNvPr>
          <p:cNvSpPr txBox="1"/>
          <p:nvPr/>
        </p:nvSpPr>
        <p:spPr>
          <a:xfrm>
            <a:off x="108155" y="193876"/>
            <a:ext cx="6096000" cy="415498"/>
          </a:xfrm>
          <a:prstGeom prst="rect">
            <a:avLst/>
          </a:prstGeom>
          <a:noFill/>
        </p:spPr>
        <p:txBody>
          <a:bodyPr wrap="square">
            <a:spAutoFit/>
          </a:bodyPr>
          <a:lstStyle/>
          <a:p>
            <a:r>
              <a:rPr lang="en-IN" sz="2100" b="1" dirty="0">
                <a:solidFill>
                  <a:schemeClr val="accent1">
                    <a:lumMod val="75000"/>
                  </a:schemeClr>
                </a:solidFill>
                <a:latin typeface="Lucida Bright" panose="02040602050505020304" pitchFamily="18" charset="0"/>
              </a:rPr>
              <a:t>    IoT WEARABLE AND SOS</a:t>
            </a:r>
          </a:p>
        </p:txBody>
      </p:sp>
      <p:sp>
        <p:nvSpPr>
          <p:cNvPr id="7" name="TextBox 6">
            <a:extLst>
              <a:ext uri="{FF2B5EF4-FFF2-40B4-BE49-F238E27FC236}">
                <a16:creationId xmlns:a16="http://schemas.microsoft.com/office/drawing/2014/main" id="{FADCDF61-3B95-2D81-DC67-DDA7596BB594}"/>
              </a:ext>
            </a:extLst>
          </p:cNvPr>
          <p:cNvSpPr txBox="1"/>
          <p:nvPr/>
        </p:nvSpPr>
        <p:spPr>
          <a:xfrm>
            <a:off x="648929" y="731765"/>
            <a:ext cx="6469626" cy="4247317"/>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ESP32 is used as the main controller for the proposed wearable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GPS module provides the approximate location of the user.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current location can be compared with selected potential risk zones.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alert can be generated when the user enters a designated risk area.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physical SOS button can create an emergency event in the prototype.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buzzer or vibration motor can provide a local warning to the user.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Wi-Fi can be used for the initial prototype, with GSM or LTE as a future extension.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wearable connects the project’s data analysis with a practical safety-assistance feature.</a:t>
            </a:r>
          </a:p>
        </p:txBody>
      </p:sp>
      <p:sp>
        <p:nvSpPr>
          <p:cNvPr id="9" name="Rectangle: Folded Corner 8">
            <a:extLst>
              <a:ext uri="{FF2B5EF4-FFF2-40B4-BE49-F238E27FC236}">
                <a16:creationId xmlns:a16="http://schemas.microsoft.com/office/drawing/2014/main" id="{29F35040-B62A-BC91-B0E0-75E777DF72DE}"/>
              </a:ext>
            </a:extLst>
          </p:cNvPr>
          <p:cNvSpPr/>
          <p:nvPr/>
        </p:nvSpPr>
        <p:spPr>
          <a:xfrm>
            <a:off x="7855974" y="609374"/>
            <a:ext cx="3913239" cy="4631220"/>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 </a:t>
            </a:r>
            <a:r>
              <a:rPr lang="en-IN" b="1" dirty="0">
                <a:solidFill>
                  <a:schemeClr val="accent1"/>
                </a:solidFill>
              </a:rPr>
              <a:t>GPS</a:t>
            </a:r>
          </a:p>
          <a:p>
            <a:pPr algn="ctr"/>
            <a:r>
              <a:rPr lang="en-IN" b="1" dirty="0">
                <a:solidFill>
                  <a:schemeClr val="accent1"/>
                </a:solidFill>
              </a:rPr>
              <a:t>  ↓</a:t>
            </a:r>
          </a:p>
          <a:p>
            <a:pPr algn="ctr"/>
            <a:r>
              <a:rPr lang="en-IN" b="1" dirty="0">
                <a:solidFill>
                  <a:schemeClr val="accent1"/>
                </a:solidFill>
              </a:rPr>
              <a:t>   ESP32</a:t>
            </a:r>
          </a:p>
          <a:p>
            <a:pPr algn="ctr"/>
            <a:r>
              <a:rPr lang="en-IN" b="1" dirty="0">
                <a:solidFill>
                  <a:schemeClr val="accent1"/>
                </a:solidFill>
              </a:rPr>
              <a:t> ↙     ↘</a:t>
            </a:r>
          </a:p>
          <a:p>
            <a:pPr algn="ctr"/>
            <a:r>
              <a:rPr lang="en-IN" b="1" dirty="0">
                <a:solidFill>
                  <a:schemeClr val="accent1"/>
                </a:solidFill>
              </a:rPr>
              <a:t>        BUZZER               SOS BUTTON</a:t>
            </a:r>
          </a:p>
          <a:p>
            <a:pPr algn="ctr"/>
            <a:r>
              <a:rPr lang="en-IN" b="1" dirty="0">
                <a:solidFill>
                  <a:schemeClr val="accent1"/>
                </a:solidFill>
              </a:rPr>
              <a:t>  ↓                             ↓</a:t>
            </a:r>
          </a:p>
          <a:p>
            <a:pPr algn="ctr"/>
            <a:r>
              <a:rPr lang="en-IN" b="1" dirty="0">
                <a:solidFill>
                  <a:schemeClr val="accent1"/>
                </a:solidFill>
              </a:rPr>
              <a:t>         ALERT                  EMERGENCY</a:t>
            </a:r>
          </a:p>
        </p:txBody>
      </p:sp>
    </p:spTree>
    <p:extLst>
      <p:ext uri="{BB962C8B-B14F-4D97-AF65-F5344CB8AC3E}">
        <p14:creationId xmlns:p14="http://schemas.microsoft.com/office/powerpoint/2010/main" val="3552089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F22D28-F95D-CBEC-3D64-7EE8F6A986E1}"/>
              </a:ext>
            </a:extLst>
          </p:cNvPr>
          <p:cNvSpPr txBox="1"/>
          <p:nvPr/>
        </p:nvSpPr>
        <p:spPr>
          <a:xfrm>
            <a:off x="3175819" y="6581001"/>
            <a:ext cx="6096000" cy="276999"/>
          </a:xfrm>
          <a:prstGeom prst="rect">
            <a:avLst/>
          </a:prstGeom>
          <a:noFill/>
        </p:spPr>
        <p:txBody>
          <a:bodyPr wrap="square">
            <a:spAutoFit/>
          </a:bodyPr>
          <a:lstStyle/>
          <a:p>
            <a:r>
              <a:rPr lang="en-IN" sz="1200" dirty="0">
                <a:solidFill>
                  <a:schemeClr val="accent5">
                    <a:lumMod val="75000"/>
                  </a:schemeClr>
                </a:solidFill>
              </a:rPr>
              <a:t>KL University | Department of Computer Science and Engineering  | Academic Year 2026–27</a:t>
            </a:r>
          </a:p>
        </p:txBody>
      </p:sp>
      <p:sp>
        <p:nvSpPr>
          <p:cNvPr id="5" name="TextBox 4">
            <a:extLst>
              <a:ext uri="{FF2B5EF4-FFF2-40B4-BE49-F238E27FC236}">
                <a16:creationId xmlns:a16="http://schemas.microsoft.com/office/drawing/2014/main" id="{B18FF67D-A539-B955-911D-BD8CDB4919A5}"/>
              </a:ext>
            </a:extLst>
          </p:cNvPr>
          <p:cNvSpPr txBox="1"/>
          <p:nvPr/>
        </p:nvSpPr>
        <p:spPr>
          <a:xfrm>
            <a:off x="294968" y="243036"/>
            <a:ext cx="6096000" cy="415498"/>
          </a:xfrm>
          <a:prstGeom prst="rect">
            <a:avLst/>
          </a:prstGeom>
          <a:noFill/>
        </p:spPr>
        <p:txBody>
          <a:bodyPr wrap="square">
            <a:spAutoFit/>
          </a:bodyPr>
          <a:lstStyle/>
          <a:p>
            <a:r>
              <a:rPr lang="en-IN" sz="2100" b="1" dirty="0">
                <a:solidFill>
                  <a:schemeClr val="accent1">
                    <a:lumMod val="75000"/>
                  </a:schemeClr>
                </a:solidFill>
                <a:latin typeface="Lucida Bright" panose="02040602050505020304" pitchFamily="18" charset="0"/>
              </a:rPr>
              <a:t>DASHBOARD AND POTENTIAL RISK ZONES</a:t>
            </a:r>
          </a:p>
        </p:txBody>
      </p:sp>
      <p:sp>
        <p:nvSpPr>
          <p:cNvPr id="7" name="TextBox 6">
            <a:extLst>
              <a:ext uri="{FF2B5EF4-FFF2-40B4-BE49-F238E27FC236}">
                <a16:creationId xmlns:a16="http://schemas.microsoft.com/office/drawing/2014/main" id="{E40B13E5-ABEE-ADC7-8793-CF1D6191AA61}"/>
              </a:ext>
            </a:extLst>
          </p:cNvPr>
          <p:cNvSpPr txBox="1"/>
          <p:nvPr/>
        </p:nvSpPr>
        <p:spPr>
          <a:xfrm>
            <a:off x="875070" y="790759"/>
            <a:ext cx="6587613" cy="4524315"/>
          </a:xfrm>
          <a:prstGeom prst="rect">
            <a:avLst/>
          </a:prstGeom>
          <a:noFill/>
        </p:spPr>
        <p:txBody>
          <a:bodyPr wrap="square">
            <a:spAutoFit/>
          </a:bodyPr>
          <a:lstStyle/>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provides a simple overview of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safety-related information.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Sentiment charts show positive, negative and neutral distributions.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Incident charts compare different types of reported safety concerns.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Time-based graphs show how reports change during selected periods.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map view can display the geographic concentration of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reports.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Filters allow users to select time period, location and incident type.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Potential high-risk zones can be highlighted using repeated reported-data patterns.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makes the project results easier for users and mentors to understand</a:t>
            </a:r>
          </a:p>
        </p:txBody>
      </p:sp>
      <p:sp>
        <p:nvSpPr>
          <p:cNvPr id="8" name="Rectangle 7">
            <a:extLst>
              <a:ext uri="{FF2B5EF4-FFF2-40B4-BE49-F238E27FC236}">
                <a16:creationId xmlns:a16="http://schemas.microsoft.com/office/drawing/2014/main" id="{DD5141F9-3E12-8C2A-BDCF-BE211958B304}"/>
              </a:ext>
            </a:extLst>
          </p:cNvPr>
          <p:cNvSpPr/>
          <p:nvPr/>
        </p:nvSpPr>
        <p:spPr>
          <a:xfrm>
            <a:off x="8662220" y="392945"/>
            <a:ext cx="2654709" cy="15928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Positive</a:t>
            </a:r>
            <a:br>
              <a:rPr lang="en-IN" dirty="0"/>
            </a:br>
            <a:r>
              <a:rPr lang="en-IN" dirty="0"/>
              <a:t>Negative</a:t>
            </a:r>
            <a:br>
              <a:rPr lang="en-IN" dirty="0"/>
            </a:br>
            <a:r>
              <a:rPr lang="en-IN" dirty="0"/>
              <a:t>Neutral</a:t>
            </a:r>
          </a:p>
        </p:txBody>
      </p:sp>
      <p:sp>
        <p:nvSpPr>
          <p:cNvPr id="10" name="Rectangle 9">
            <a:extLst>
              <a:ext uri="{FF2B5EF4-FFF2-40B4-BE49-F238E27FC236}">
                <a16:creationId xmlns:a16="http://schemas.microsoft.com/office/drawing/2014/main" id="{96522731-CD31-F1E1-BEB3-4B2AA00879A7}"/>
              </a:ext>
            </a:extLst>
          </p:cNvPr>
          <p:cNvSpPr/>
          <p:nvPr/>
        </p:nvSpPr>
        <p:spPr>
          <a:xfrm>
            <a:off x="8662221" y="3252043"/>
            <a:ext cx="2654709" cy="79641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a:t>INCIDENT ANALYSIS</a:t>
            </a:r>
            <a:endParaRPr lang="en-IN" dirty="0"/>
          </a:p>
        </p:txBody>
      </p:sp>
      <p:sp>
        <p:nvSpPr>
          <p:cNvPr id="12" name="Rectangle 11">
            <a:extLst>
              <a:ext uri="{FF2B5EF4-FFF2-40B4-BE49-F238E27FC236}">
                <a16:creationId xmlns:a16="http://schemas.microsoft.com/office/drawing/2014/main" id="{6FBF8FC7-2DDA-ED44-0322-ADC78A542545}"/>
              </a:ext>
            </a:extLst>
          </p:cNvPr>
          <p:cNvSpPr/>
          <p:nvPr/>
        </p:nvSpPr>
        <p:spPr>
          <a:xfrm>
            <a:off x="8716297" y="5476567"/>
            <a:ext cx="2654709" cy="63491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LOCATION / MAP</a:t>
            </a:r>
          </a:p>
        </p:txBody>
      </p:sp>
      <p:sp>
        <p:nvSpPr>
          <p:cNvPr id="13" name="Arrow: Down 12">
            <a:extLst>
              <a:ext uri="{FF2B5EF4-FFF2-40B4-BE49-F238E27FC236}">
                <a16:creationId xmlns:a16="http://schemas.microsoft.com/office/drawing/2014/main" id="{696C1DD2-873C-F3F7-9A7B-28864274E8DB}"/>
              </a:ext>
            </a:extLst>
          </p:cNvPr>
          <p:cNvSpPr/>
          <p:nvPr/>
        </p:nvSpPr>
        <p:spPr>
          <a:xfrm>
            <a:off x="9886335" y="2139781"/>
            <a:ext cx="314632" cy="7964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4B6D6AEB-0C41-5429-827C-85BA15069F58}"/>
              </a:ext>
            </a:extLst>
          </p:cNvPr>
          <p:cNvSpPr/>
          <p:nvPr/>
        </p:nvSpPr>
        <p:spPr>
          <a:xfrm>
            <a:off x="9861754" y="4364305"/>
            <a:ext cx="314632" cy="7964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17982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197</TotalTime>
  <Words>1758</Words>
  <Application>Microsoft Office PowerPoint</Application>
  <PresentationFormat>Widescreen</PresentationFormat>
  <Paragraphs>110</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Lucida Bright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BADAM SUDHEER REDDY</dc:creator>
  <cp:lastModifiedBy>BADAM SUDHEER REDDY</cp:lastModifiedBy>
  <cp:revision>8</cp:revision>
  <dcterms:created xsi:type="dcterms:W3CDTF">2026-08-17T18:11:35Z</dcterms:created>
  <dcterms:modified xsi:type="dcterms:W3CDTF">2026-08-24T14:31:11Z</dcterms:modified>
</cp:coreProperties>
</file>